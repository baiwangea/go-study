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  <a:latin typeface="微软雅黑"/>
              </a:defRPr>
            </a:pPr>
            <a:r>
              <a:t>Go 并发编程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  <a:latin typeface="微软雅黑"/>
              </a:defRPr>
            </a:pPr>
            <a:r>
              <a:t>Enterprise-Grade Concurrency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56616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Goroutine 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01 · Goroutine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1.1 启动 Goroutine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40480" cy="36576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goroutine 启动示例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package</a:t>
            </a:r>
            <a:r>
              <a:rPr sz="1300">
                <a:solidFill>
                  <a:srgbClr val="E5C07B"/>
                </a:solidFill>
                <a:latin typeface="Consolas"/>
              </a:rPr>
              <a:t> main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FF6B9D"/>
                </a:solidFill>
                <a:latin typeface="Consolas"/>
              </a:rPr>
              <a:t>import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98C379"/>
                </a:solidFill>
                <a:latin typeface="Consolas"/>
              </a:rPr>
              <a:t>"fmt"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worker</a:t>
            </a:r>
            <a:r>
              <a:rPr sz="1300">
                <a:solidFill>
                  <a:srgbClr val="9CA3AF"/>
                </a:solidFill>
                <a:latin typeface="Consolas"/>
              </a:rPr>
              <a:t>(id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E5C07B"/>
                </a:solidFill>
                <a:latin typeface="Consolas"/>
              </a:rPr>
              <a:t>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(id)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main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worker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)  </a:t>
            </a:r>
            <a:r>
              <a:rPr sz="1300">
                <a:solidFill>
                  <a:srgbClr val="5C6370"/>
                </a:solidFill>
                <a:latin typeface="Consolas"/>
              </a:rPr>
              <a:t>// 异步启动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40233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40233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9164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🔑 关键要点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374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go 关键字启动异步执行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主协程不等待子协程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调度顺序不确定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退出时直接抛弃未完成任务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657600"/>
            <a:ext cx="402336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3657600"/>
            <a:ext cx="40233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70332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⚠️ 常见陷阱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11480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忘记等待 → 程序提前退出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闭包捕获循环变量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用 sleep 猜测完成时间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01 · Goroutine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1.2 WaitGroup 等待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40480" cy="384048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WaitGroup 使用模式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474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var</a:t>
            </a:r>
            <a:r>
              <a:rPr sz="1300">
                <a:solidFill>
                  <a:srgbClr val="9CA3AF"/>
                </a:solidFill>
                <a:latin typeface="Consolas"/>
              </a:rPr>
              <a:t> wg </a:t>
            </a:r>
            <a:r>
              <a:rPr sz="1300">
                <a:solidFill>
                  <a:srgbClr val="E5C07B"/>
                </a:solidFill>
                <a:latin typeface="Consolas"/>
              </a:rPr>
              <a:t>sync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WaitGroup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i := </a:t>
            </a:r>
            <a:r>
              <a:rPr sz="1300">
                <a:solidFill>
                  <a:srgbClr val="D19A66"/>
                </a:solidFill>
                <a:latin typeface="Consolas"/>
              </a:rPr>
              <a:t>0</a:t>
            </a:r>
            <a:r>
              <a:rPr sz="1300">
                <a:solidFill>
                  <a:srgbClr val="9CA3AF"/>
                </a:solidFill>
                <a:latin typeface="Consolas"/>
              </a:rPr>
              <a:t>; i &lt; </a:t>
            </a:r>
            <a:r>
              <a:rPr sz="1300">
                <a:solidFill>
                  <a:srgbClr val="D19A66"/>
                </a:solidFill>
                <a:latin typeface="Consolas"/>
              </a:rPr>
              <a:t>5</a:t>
            </a:r>
            <a:r>
              <a:rPr sz="1300">
                <a:solidFill>
                  <a:srgbClr val="9CA3AF"/>
                </a:solidFill>
                <a:latin typeface="Consolas"/>
              </a:rPr>
              <a:t>; i++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wg.</a:t>
            </a:r>
            <a:r>
              <a:rPr sz="1300">
                <a:solidFill>
                  <a:srgbClr val="61AFEF"/>
                </a:solidFill>
                <a:latin typeface="Consolas"/>
              </a:rPr>
              <a:t>Add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)  </a:t>
            </a:r>
            <a:r>
              <a:rPr sz="1300">
                <a:solidFill>
                  <a:srgbClr val="5C6370"/>
                </a:solidFill>
                <a:latin typeface="Consolas"/>
              </a:rPr>
              <a:t>// +1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(id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wg.</a:t>
            </a:r>
            <a:r>
              <a:rPr sz="1300">
                <a:solidFill>
                  <a:srgbClr val="61AFEF"/>
                </a:solidFill>
                <a:latin typeface="Consolas"/>
              </a:rPr>
              <a:t>Done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61AFEF"/>
                </a:solidFill>
                <a:latin typeface="Consolas"/>
              </a:rPr>
              <a:t>worker</a:t>
            </a:r>
            <a:r>
              <a:rPr sz="1300">
                <a:solidFill>
                  <a:srgbClr val="9CA3AF"/>
                </a:solidFill>
                <a:latin typeface="Consolas"/>
              </a:rPr>
              <a:t>(id)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}(i)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wg.</a:t>
            </a:r>
            <a:r>
              <a:rPr sz="1300">
                <a:solidFill>
                  <a:srgbClr val="61AFEF"/>
                </a:solidFill>
                <a:latin typeface="Consolas"/>
              </a:rPr>
              <a:t>Wait</a:t>
            </a:r>
            <a:r>
              <a:rPr sz="1300">
                <a:solidFill>
                  <a:srgbClr val="9CA3AF"/>
                </a:solidFill>
                <a:latin typeface="Consolas"/>
              </a:rPr>
              <a:t>()  </a:t>
            </a:r>
            <a:r>
              <a:rPr sz="1300">
                <a:solidFill>
                  <a:srgbClr val="5C6370"/>
                </a:solidFill>
                <a:latin typeface="Consolas"/>
              </a:rPr>
              <a:t>// 等待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40233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40233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9164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📋 三步法则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3749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1️⃣ Add(n) — 增加计数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2️⃣ Done() — 完成时调用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3️⃣ Wait() — 阻塞等待归零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⚠️ Add 必须在 goroutine 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114800"/>
            <a:ext cx="402336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4114800"/>
            <a:ext cx="40233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416052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✅ 最佳实践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57200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defer wg.Done() 防遗漏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Add 在启动前调用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Channel 通信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02 · Channel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2.1 无缓冲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" cy="731520"/>
          </a:xfrm>
          <a:prstGeom prst="roundRect">
            <a:avLst/>
          </a:prstGeom>
          <a:solidFill>
            <a:srgbClr val="6366F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发送方</a:t>
            </a:r>
          </a:p>
          <a:p>
            <a:r>
              <a:t>ch &lt;-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965960"/>
            <a:ext cx="2286000" cy="45720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057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Channel (缓冲区)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1097280" cy="73152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接收方</a:t>
            </a:r>
          </a:p>
          <a:p>
            <a:r>
              <a:t>data := &lt;-ch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194560"/>
            <a:ext cx="274320" cy="0"/>
          </a:xfrm>
          <a:prstGeom prst="line">
            <a:avLst/>
          </a:prstGeom>
          <a:ln w="381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194560"/>
            <a:ext cx="274320" cy="0"/>
          </a:xfrm>
          <a:prstGeom prst="line">
            <a:avLst/>
          </a:prstGeom>
          <a:ln w="381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926080"/>
            <a:ext cx="3840480" cy="27432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无缓冲 Channel 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3474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9CA3AF"/>
                </a:solidFill>
                <a:latin typeface="Consolas"/>
              </a:rPr>
              <a:t>ch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  </a:t>
            </a:r>
            <a:r>
              <a:rPr sz="1300">
                <a:solidFill>
                  <a:srgbClr val="5C6370"/>
                </a:solidFill>
                <a:latin typeface="Consolas"/>
              </a:rPr>
              <a:t>// 无缓冲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data := &lt;-ch  </a:t>
            </a:r>
            <a:r>
              <a:rPr sz="1300">
                <a:solidFill>
                  <a:srgbClr val="5C6370"/>
                </a:solidFill>
                <a:latin typeface="Consolas"/>
              </a:rPr>
              <a:t>// 接收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61AFEF"/>
                </a:solidFill>
                <a:latin typeface="Consolas"/>
              </a:rPr>
              <a:t>process</a:t>
            </a:r>
            <a:r>
              <a:rPr sz="1300">
                <a:solidFill>
                  <a:srgbClr val="9CA3AF"/>
                </a:solidFill>
                <a:latin typeface="Consolas"/>
              </a:rPr>
              <a:t>(data)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42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阻塞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926080"/>
            <a:ext cx="40233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97180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🔄 同步语义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8328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发送阻塞到有接收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接收阻塞到有发送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一次收发 = 一次握手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480560"/>
            <a:ext cx="402336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4480560"/>
            <a:ext cx="40233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52628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适用场景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93776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下单指令（必须送达）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严格同步控制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02 · Channel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2.2 有缓冲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40480" cy="32004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有缓冲 Channel 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474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9CA3AF"/>
                </a:solidFill>
                <a:latin typeface="Consolas"/>
              </a:rPr>
              <a:t>ch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3</a:t>
            </a:r>
            <a:r>
              <a:rPr sz="1300">
                <a:solidFill>
                  <a:srgbClr val="9CA3AF"/>
                </a:solidFill>
                <a:latin typeface="Consolas"/>
              </a:rPr>
              <a:t>)  </a:t>
            </a:r>
            <a:r>
              <a:rPr sz="1300">
                <a:solidFill>
                  <a:srgbClr val="5C6370"/>
                </a:solidFill>
                <a:latin typeface="Consolas"/>
              </a:rPr>
              <a:t>// 容量3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不阻塞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2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不阻塞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3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不阻塞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4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阻塞！队列满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E5C07B"/>
                </a:solidFill>
                <a:latin typeface="Consolas"/>
              </a:rPr>
              <a:t>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61AFEF"/>
                </a:solidFill>
                <a:latin typeface="Consolas"/>
              </a:rPr>
              <a:t>len</a:t>
            </a:r>
            <a:r>
              <a:rPr sz="1300">
                <a:solidFill>
                  <a:srgbClr val="9CA3AF"/>
                </a:solidFill>
                <a:latin typeface="Consolas"/>
              </a:rPr>
              <a:t>(ch), </a:t>
            </a:r>
            <a:r>
              <a:rPr sz="1300">
                <a:solidFill>
                  <a:srgbClr val="61AFEF"/>
                </a:solidFill>
                <a:latin typeface="Consolas"/>
              </a:rPr>
              <a:t>cap</a:t>
            </a:r>
            <a:r>
              <a:rPr sz="1300">
                <a:solidFill>
                  <a:srgbClr val="9CA3AF"/>
                </a:solidFill>
                <a:latin typeface="Consolas"/>
              </a:rPr>
              <a:t>(ch))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5C6370"/>
                </a:solidFill>
                <a:latin typeface="Consolas"/>
              </a:rPr>
              <a:t>// 输出: 3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402336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402336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9164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📊 缓冲队列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len(ch) — 当前元素数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cap(ch) — 容量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队列满才阻塞发送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队列空才阻塞接收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474720"/>
            <a:ext cx="40233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3474720"/>
            <a:ext cx="40233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3749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适用场景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3192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流量削峰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异步通知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容忍短暂速度差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02 · Channel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2.3 Close 与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38912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Close 与 Range 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023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9CA3AF"/>
                </a:solidFill>
                <a:latin typeface="Consolas"/>
              </a:rPr>
              <a:t>ch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2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ch &lt;- </a:t>
            </a:r>
            <a:r>
              <a:rPr sz="1300">
                <a:solidFill>
                  <a:srgbClr val="D19A66"/>
                </a:solidFill>
                <a:latin typeface="Consolas"/>
              </a:rPr>
              <a:t>2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61AFEF"/>
                </a:solidFill>
                <a:latin typeface="Consolas"/>
              </a:rPr>
              <a:t>close</a:t>
            </a:r>
            <a:r>
              <a:rPr sz="1300">
                <a:solidFill>
                  <a:srgbClr val="9CA3AF"/>
                </a:solidFill>
                <a:latin typeface="Consolas"/>
              </a:rPr>
              <a:t>(ch)  </a:t>
            </a:r>
            <a:r>
              <a:rPr sz="1300">
                <a:solidFill>
                  <a:srgbClr val="5C6370"/>
                </a:solidFill>
                <a:latin typeface="Consolas"/>
              </a:rPr>
              <a:t>// 发送方关闭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5C6370"/>
                </a:solidFill>
                <a:latin typeface="Consolas"/>
              </a:rPr>
              <a:t>// 方式1: range自动检测关闭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v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ch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E5C07B"/>
                </a:solidFill>
                <a:latin typeface="Consolas"/>
              </a:rPr>
              <a:t>    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(v)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5C6370"/>
                </a:solidFill>
                <a:latin typeface="Consolas"/>
              </a:rPr>
              <a:t>// 方式2: 逗号ok检测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v, ok := &lt;-ch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FF6B9D"/>
                </a:solidFill>
                <a:latin typeface="Consolas"/>
              </a:rPr>
              <a:t>if</a:t>
            </a:r>
            <a:r>
              <a:rPr sz="1300">
                <a:solidFill>
                  <a:srgbClr val="9CA3AF"/>
                </a:solidFill>
                <a:latin typeface="Consolas"/>
              </a:rPr>
              <a:t> !ok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channel已关闭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34747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645920"/>
            <a:ext cx="34747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691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⚠️ 关闭规则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只有发送方能 close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close 后不能再发送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close 后能继续接收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接收完返回零值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重复 close 会 panic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84048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3840480"/>
            <a:ext cx="34747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886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✅ 最佳实践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297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range 自动退出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用 ok 判断是否关闭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Worker Pool 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Select 多路复用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03 · Select 多路复用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3.1 Select 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389120" cy="32004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Select 多路复用示例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0233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select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FF6B9D"/>
                </a:solidFill>
                <a:latin typeface="Consolas"/>
              </a:rPr>
              <a:t>case</a:t>
            </a:r>
            <a:r>
              <a:rPr sz="1300">
                <a:solidFill>
                  <a:srgbClr val="9CA3AF"/>
                </a:solidFill>
                <a:latin typeface="Consolas"/>
              </a:rPr>
              <a:t> v := &lt;-ch1: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E5C07B"/>
                </a:solidFill>
                <a:latin typeface="Consolas"/>
              </a:rPr>
              <a:t>    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98C379"/>
                </a:solidFill>
                <a:latin typeface="Consolas"/>
              </a:rPr>
              <a:t>"ch1:"</a:t>
            </a:r>
            <a:r>
              <a:rPr sz="1300">
                <a:solidFill>
                  <a:srgbClr val="9CA3AF"/>
                </a:solidFill>
                <a:latin typeface="Consolas"/>
              </a:rPr>
              <a:t>, v)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FF6B9D"/>
                </a:solidFill>
                <a:latin typeface="Consolas"/>
              </a:rPr>
              <a:t>case</a:t>
            </a:r>
            <a:r>
              <a:rPr sz="1300">
                <a:solidFill>
                  <a:srgbClr val="9CA3AF"/>
                </a:solidFill>
                <a:latin typeface="Consolas"/>
              </a:rPr>
              <a:t> v := &lt;-ch2: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E5C07B"/>
                </a:solidFill>
                <a:latin typeface="Consolas"/>
              </a:rPr>
              <a:t>    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98C379"/>
                </a:solidFill>
                <a:latin typeface="Consolas"/>
              </a:rPr>
              <a:t>"ch2:"</a:t>
            </a:r>
            <a:r>
              <a:rPr sz="1300">
                <a:solidFill>
                  <a:srgbClr val="9CA3AF"/>
                </a:solidFill>
                <a:latin typeface="Consolas"/>
              </a:rPr>
              <a:t>, v)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FF6B9D"/>
                </a:solidFill>
                <a:latin typeface="Consolas"/>
              </a:rPr>
              <a:t>case</a:t>
            </a:r>
            <a:r>
              <a:rPr sz="1300">
                <a:solidFill>
                  <a:srgbClr val="9CA3AF"/>
                </a:solidFill>
                <a:latin typeface="Consolas"/>
              </a:rPr>
              <a:t> &lt;-time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After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 * time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Second</a:t>
            </a:r>
            <a:r>
              <a:rPr sz="1300">
                <a:solidFill>
                  <a:srgbClr val="9CA3AF"/>
                </a:solidFill>
                <a:latin typeface="Consolas"/>
              </a:rPr>
              <a:t>):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E5C07B"/>
                </a:solidFill>
                <a:latin typeface="Consolas"/>
              </a:rPr>
              <a:t>    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98C379"/>
                </a:solidFill>
                <a:latin typeface="Consolas"/>
              </a:rPr>
              <a:t>"timeout"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645920"/>
            <a:ext cx="3474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691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🔀 执行规则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有就绪就执行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多个就绪随机选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都不就绪就阻塞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default 立即返回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65760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3657600"/>
            <a:ext cx="34747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703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典型场景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114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超时控制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多源数据合并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取消信号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03 · Select 多路复用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3.2 超时控制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超时控制实现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fetchWithTimeout</a:t>
            </a:r>
            <a:r>
              <a:rPr sz="1300">
                <a:solidFill>
                  <a:srgbClr val="9CA3AF"/>
                </a:solidFill>
                <a:latin typeface="Consolas"/>
              </a:rPr>
              <a:t>(url 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) </a:t>
            </a:r>
            <a:r>
              <a:rPr sz="1300">
                <a:solidFill>
                  <a:srgbClr val="E5C07B"/>
                </a:solidFill>
                <a:latin typeface="Consolas"/>
              </a:rPr>
              <a:t>error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    result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[]</a:t>
            </a:r>
            <a:r>
              <a:rPr sz="1300">
                <a:solidFill>
                  <a:srgbClr val="E5C07B"/>
                </a:solidFill>
                <a:latin typeface="Consolas"/>
              </a:rPr>
              <a:t>byte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data := </a:t>
            </a:r>
            <a:r>
              <a:rPr sz="1300">
                <a:solidFill>
                  <a:srgbClr val="61AFEF"/>
                </a:solidFill>
                <a:latin typeface="Consolas"/>
              </a:rPr>
              <a:t>fetch</a:t>
            </a:r>
            <a:r>
              <a:rPr sz="1300">
                <a:solidFill>
                  <a:srgbClr val="9CA3AF"/>
                </a:solidFill>
                <a:latin typeface="Consolas"/>
              </a:rPr>
              <a:t>(url)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result &lt;- data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select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case</a:t>
            </a:r>
            <a:r>
              <a:rPr sz="1300">
                <a:solidFill>
                  <a:srgbClr val="9CA3AF"/>
                </a:solidFill>
                <a:latin typeface="Consolas"/>
              </a:rPr>
              <a:t> data := &lt;-result: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61AFEF"/>
                </a:solidFill>
                <a:latin typeface="Consolas"/>
              </a:rPr>
              <a:t>process</a:t>
            </a:r>
            <a:r>
              <a:rPr sz="1300">
                <a:solidFill>
                  <a:srgbClr val="9CA3AF"/>
                </a:solidFill>
                <a:latin typeface="Consolas"/>
              </a:rPr>
              <a:t>(data)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nil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case</a:t>
            </a:r>
            <a:r>
              <a:rPr sz="1300">
                <a:solidFill>
                  <a:srgbClr val="9CA3AF"/>
                </a:solidFill>
                <a:latin typeface="Consolas"/>
              </a:rPr>
              <a:t> &lt;-time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After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3</a:t>
            </a:r>
            <a:r>
              <a:rPr sz="1300">
                <a:solidFill>
                  <a:srgbClr val="9CA3AF"/>
                </a:solidFill>
                <a:latin typeface="Consolas"/>
              </a:rPr>
              <a:t> * time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Second</a:t>
            </a:r>
            <a:r>
              <a:rPr sz="1300">
                <a:solidFill>
                  <a:srgbClr val="9CA3AF"/>
                </a:solidFill>
                <a:latin typeface="Consolas"/>
              </a:rPr>
              <a:t>):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ErrTimeout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⏱️ 超时模式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time.After 创建定时器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select 等待双分支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先到先得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⚠️ 超时≠取消后端任务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30175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411480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4160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实战应用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HTTP 请求超时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数据库查询超时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交易所 API 调用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Context 上下文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04 · Context 上下文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4.1 Context 取消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Context 取消示例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9CA3AF"/>
                </a:solidFill>
                <a:latin typeface="Consolas"/>
              </a:rPr>
              <a:t>ctx, cancel := context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WithCancel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    context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Background</a:t>
            </a:r>
            <a:r>
              <a:rPr sz="1300">
                <a:solidFill>
                  <a:srgbClr val="9CA3AF"/>
                </a:solidFill>
                <a:latin typeface="Consolas"/>
              </a:rPr>
              <a:t>(),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cancel</a:t>
            </a:r>
            <a:r>
              <a:rPr sz="1300">
                <a:solidFill>
                  <a:srgbClr val="9CA3AF"/>
                </a:solidFill>
                <a:latin typeface="Consolas"/>
              </a:rPr>
              <a:t>()  </a:t>
            </a:r>
            <a:r>
              <a:rPr sz="1300">
                <a:solidFill>
                  <a:srgbClr val="5C6370"/>
                </a:solidFill>
                <a:latin typeface="Consolas"/>
              </a:rPr>
              <a:t>// 确保释放资源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select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case</a:t>
            </a:r>
            <a:r>
              <a:rPr sz="1300">
                <a:solidFill>
                  <a:srgbClr val="9CA3AF"/>
                </a:solidFill>
                <a:latin typeface="Consolas"/>
              </a:rPr>
              <a:t> &lt;-ctx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Done</a:t>
            </a:r>
            <a:r>
              <a:rPr sz="1300">
                <a:solidFill>
                  <a:srgbClr val="9CA3AF"/>
                </a:solidFill>
                <a:latin typeface="Consolas"/>
              </a:rPr>
              <a:t>():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收到取消信号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default</a:t>
            </a:r>
            <a:r>
              <a:rPr sz="1300">
                <a:solidFill>
                  <a:srgbClr val="9CA3A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</a:t>
            </a:r>
            <a:r>
              <a:rPr sz="1300">
                <a:solidFill>
                  <a:srgbClr val="61AFEF"/>
                </a:solidFill>
                <a:latin typeface="Consolas"/>
              </a:rPr>
              <a:t>doWork</a:t>
            </a:r>
            <a:r>
              <a:rPr sz="1300">
                <a:solidFill>
                  <a:srgbClr val="9CA3AF"/>
                </a:solidFill>
                <a:latin typeface="Consolas"/>
              </a:rPr>
              <a:t>()  </a:t>
            </a:r>
            <a:r>
              <a:rPr sz="1300">
                <a:solidFill>
                  <a:srgbClr val="5C6370"/>
                </a:solidFill>
                <a:latin typeface="Consolas"/>
              </a:rPr>
              <a:t>// 继续工作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E5C07B"/>
                </a:solidFill>
                <a:latin typeface="Consolas"/>
              </a:rPr>
              <a:t>time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Sleep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5</a:t>
            </a:r>
            <a:r>
              <a:rPr sz="1300">
                <a:solidFill>
                  <a:srgbClr val="9CA3AF"/>
                </a:solidFill>
                <a:latin typeface="Consolas"/>
              </a:rPr>
              <a:t> * time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Second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61AFEF"/>
                </a:solidFill>
                <a:latin typeface="Consolas"/>
              </a:rPr>
              <a:t>cancel</a:t>
            </a:r>
            <a:r>
              <a:rPr sz="1300">
                <a:solidFill>
                  <a:srgbClr val="9CA3AF"/>
                </a:solidFill>
                <a:latin typeface="Consolas"/>
              </a:rPr>
              <a:t>()  </a:t>
            </a:r>
            <a:r>
              <a:rPr sz="1300">
                <a:solidFill>
                  <a:srgbClr val="5C6370"/>
                </a:solidFill>
                <a:latin typeface="Consolas"/>
              </a:rPr>
              <a:t>// 触发取消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🎛️ 四种Context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Background() — 根节点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WithCancel() — 取消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WithTimeout() — 超时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WithValue() — 传值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840480"/>
            <a:ext cx="30175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886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✅ 最佳实践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2976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第一个参数传 ctx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defer cancel()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监听 ctx.Done()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不存储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同步原语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05 · 同步原语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5.1 Mutex 互斥锁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38912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Mutex 使用示例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023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type</a:t>
            </a:r>
            <a:r>
              <a:rPr sz="1300">
                <a:solidFill>
                  <a:srgbClr val="9CA3AF"/>
                </a:solidFill>
                <a:latin typeface="Consolas"/>
              </a:rPr>
              <a:t> Counter </a:t>
            </a:r>
            <a:r>
              <a:rPr sz="1300">
                <a:solidFill>
                  <a:srgbClr val="FF6B9D"/>
                </a:solidFill>
                <a:latin typeface="Consolas"/>
              </a:rPr>
              <a:t>struct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    mu    sync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Mutex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    value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*Counter) </a:t>
            </a:r>
            <a:r>
              <a:rPr sz="1300">
                <a:solidFill>
                  <a:srgbClr val="61AFEF"/>
                </a:solidFill>
                <a:latin typeface="Consolas"/>
              </a:rPr>
              <a:t>Inc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Unlock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value++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*Counter) </a:t>
            </a:r>
            <a:r>
              <a:rPr sz="1300">
                <a:solidFill>
                  <a:srgbClr val="61AFEF"/>
                </a:solidFill>
                <a:latin typeface="Consolas"/>
              </a:rPr>
              <a:t>Get</a:t>
            </a:r>
            <a:r>
              <a:rPr sz="1300">
                <a:solidFill>
                  <a:srgbClr val="9CA3AF"/>
                </a:solidFill>
                <a:latin typeface="Consolas"/>
              </a:rPr>
              <a:t>()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   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Unlock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value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645920"/>
            <a:ext cx="34747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691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🔒 使用规则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Lock/Unlock 成对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defer Unlock 防遗漏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不可复制 Mutex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不可重入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474720"/>
            <a:ext cx="34747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3474720"/>
            <a:ext cx="34747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520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⚖️ 选型对比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931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Mutex — 复杂临界区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atomic — 单个变量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channel — 传递所有权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口诀：能 atomic 不 Mutex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05 · 同步原语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5.2 RWMutex 读写锁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66344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RWMutex 使用示例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2976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type</a:t>
            </a:r>
            <a:r>
              <a:rPr sz="1300">
                <a:solidFill>
                  <a:srgbClr val="9CA3AF"/>
                </a:solidFill>
                <a:latin typeface="Consolas"/>
              </a:rPr>
              <a:t> Cache </a:t>
            </a:r>
            <a:r>
              <a:rPr sz="1300">
                <a:solidFill>
                  <a:srgbClr val="FF6B9D"/>
                </a:solidFill>
                <a:latin typeface="Consolas"/>
              </a:rPr>
              <a:t>struct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    mu   sync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RWMutex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    data </a:t>
            </a:r>
            <a:r>
              <a:rPr sz="1300">
                <a:solidFill>
                  <a:srgbClr val="FF6B9D"/>
                </a:solidFill>
                <a:latin typeface="Consolas"/>
              </a:rPr>
              <a:t>map</a:t>
            </a:r>
            <a:r>
              <a:rPr sz="1300">
                <a:solidFill>
                  <a:srgbClr val="9CA3AF"/>
                </a:solidFill>
                <a:latin typeface="Consolas"/>
              </a:rPr>
              <a:t>[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]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5C6370"/>
                </a:solidFill>
                <a:latin typeface="Consolas"/>
              </a:rPr>
              <a:t>// 读操作用读锁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*Cache) </a:t>
            </a:r>
            <a:r>
              <a:rPr sz="1300">
                <a:solidFill>
                  <a:srgbClr val="61AFEF"/>
                </a:solidFill>
                <a:latin typeface="Consolas"/>
              </a:rPr>
              <a:t>Get</a:t>
            </a:r>
            <a:r>
              <a:rPr sz="1300">
                <a:solidFill>
                  <a:srgbClr val="9CA3AF"/>
                </a:solidFill>
                <a:latin typeface="Consolas"/>
              </a:rPr>
              <a:t>(key 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) 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RLock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RUnlock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data[key]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5C6370"/>
                </a:solidFill>
                <a:latin typeface="Consolas"/>
              </a:rPr>
              <a:t>// 写操作用写锁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*Cache) </a:t>
            </a:r>
            <a:r>
              <a:rPr sz="1300">
                <a:solidFill>
                  <a:srgbClr val="61AFEF"/>
                </a:solidFill>
                <a:latin typeface="Consolas"/>
              </a:rPr>
              <a:t>Set</a:t>
            </a:r>
            <a:r>
              <a:rPr sz="1300">
                <a:solidFill>
                  <a:srgbClr val="9CA3AF"/>
                </a:solidFill>
                <a:latin typeface="Consolas"/>
              </a:rPr>
              <a:t>(k, v 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   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mu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Unlock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9CA3AF"/>
                </a:solidFill>
                <a:latin typeface="Consolas"/>
              </a:rPr>
              <a:t>    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data[k] = v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45920"/>
            <a:ext cx="329184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645920"/>
            <a:ext cx="329184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6916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📖 读写分离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读锁：RLock/RUnlock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写锁：Lock/Unlock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读锁可并发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写锁独占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写锁优先级高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657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3657600"/>
            <a:ext cx="329184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37033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适用场景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114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读多写少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配置缓存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热点数据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⚠️ 写多时不如 Mutex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并发模式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06 · 并发模式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6.1 Worker 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Worker Pool 完整实现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9CA3AF"/>
                </a:solidFill>
                <a:latin typeface="Consolas"/>
              </a:rPr>
              <a:t>jobs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100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results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100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FF6B9D"/>
                </a:solidFill>
                <a:latin typeface="Consolas"/>
              </a:rPr>
              <a:t>var</a:t>
            </a:r>
            <a:r>
              <a:rPr sz="1300">
                <a:solidFill>
                  <a:srgbClr val="9CA3AF"/>
                </a:solidFill>
                <a:latin typeface="Consolas"/>
              </a:rPr>
              <a:t> wg sync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WaitGroup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5C6370"/>
                </a:solidFill>
                <a:latin typeface="Consolas"/>
              </a:rPr>
              <a:t>// 启动3个worker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w := </a:t>
            </a:r>
            <a:r>
              <a:rPr sz="1300">
                <a:solidFill>
                  <a:srgbClr val="D19A66"/>
                </a:solidFill>
                <a:latin typeface="Consolas"/>
              </a:rPr>
              <a:t>0</a:t>
            </a:r>
            <a:r>
              <a:rPr sz="1300">
                <a:solidFill>
                  <a:srgbClr val="9CA3AF"/>
                </a:solidFill>
                <a:latin typeface="Consolas"/>
              </a:rPr>
              <a:t>; w &lt; </a:t>
            </a:r>
            <a:r>
              <a:rPr sz="1300">
                <a:solidFill>
                  <a:srgbClr val="D19A66"/>
                </a:solidFill>
                <a:latin typeface="Consolas"/>
              </a:rPr>
              <a:t>3</a:t>
            </a:r>
            <a:r>
              <a:rPr sz="1300">
                <a:solidFill>
                  <a:srgbClr val="9CA3AF"/>
                </a:solidFill>
                <a:latin typeface="Consolas"/>
              </a:rPr>
              <a:t>; w++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wg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Add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wg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Done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j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jobs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results &lt;- </a:t>
            </a:r>
            <a:r>
              <a:rPr sz="1300">
                <a:solidFill>
                  <a:srgbClr val="61AFEF"/>
                </a:solidFill>
                <a:latin typeface="Consolas"/>
              </a:rPr>
              <a:t>process</a:t>
            </a:r>
            <a:r>
              <a:rPr sz="1300">
                <a:solidFill>
                  <a:srgbClr val="9CA3AF"/>
                </a:solidFill>
                <a:latin typeface="Consolas"/>
              </a:rPr>
              <a:t>(j)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    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5C6370"/>
                </a:solidFill>
                <a:latin typeface="Consolas"/>
              </a:rPr>
              <a:t>// 发送任务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i := </a:t>
            </a:r>
            <a:r>
              <a:rPr sz="1300">
                <a:solidFill>
                  <a:srgbClr val="D19A66"/>
                </a:solidFill>
                <a:latin typeface="Consolas"/>
              </a:rPr>
              <a:t>0</a:t>
            </a:r>
            <a:r>
              <a:rPr sz="1300">
                <a:solidFill>
                  <a:srgbClr val="9CA3AF"/>
                </a:solidFill>
                <a:latin typeface="Consolas"/>
              </a:rPr>
              <a:t>; i &lt; </a:t>
            </a:r>
            <a:r>
              <a:rPr sz="1300">
                <a:solidFill>
                  <a:srgbClr val="D19A66"/>
                </a:solidFill>
                <a:latin typeface="Consolas"/>
              </a:rPr>
              <a:t>100</a:t>
            </a:r>
            <a:r>
              <a:rPr sz="1300">
                <a:solidFill>
                  <a:srgbClr val="9CA3AF"/>
                </a:solidFill>
                <a:latin typeface="Consolas"/>
              </a:rPr>
              <a:t>; i++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    jobs &lt;- i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19│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20│</a:t>
            </a:r>
            <a:r>
              <a:rPr sz="1300">
                <a:solidFill>
                  <a:srgbClr val="61AFEF"/>
                </a:solidFill>
                <a:latin typeface="Consolas"/>
              </a:rPr>
              <a:t>close</a:t>
            </a:r>
            <a:r>
              <a:rPr sz="1300">
                <a:solidFill>
                  <a:srgbClr val="9CA3AF"/>
                </a:solidFill>
                <a:latin typeface="Consolas"/>
              </a:rPr>
              <a:t>(jobs)  </a:t>
            </a:r>
            <a:r>
              <a:rPr sz="1300">
                <a:solidFill>
                  <a:srgbClr val="5C6370"/>
                </a:solidFill>
                <a:latin typeface="Consolas"/>
              </a:rPr>
              <a:t>// 关键！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21│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22│</a:t>
            </a:r>
            <a:r>
              <a:rPr sz="1300">
                <a:solidFill>
                  <a:srgbClr val="5C6370"/>
                </a:solidFill>
                <a:latin typeface="Consolas"/>
              </a:rPr>
              <a:t>// 等待完成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23│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24│</a:t>
            </a:r>
            <a:r>
              <a:rPr sz="1300">
                <a:solidFill>
                  <a:srgbClr val="9CA3AF"/>
                </a:solidFill>
                <a:latin typeface="Consolas"/>
              </a:rPr>
              <a:t>    wg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Wait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25│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61AFEF"/>
                </a:solidFill>
                <a:latin typeface="Consolas"/>
              </a:rPr>
              <a:t>close</a:t>
            </a:r>
            <a:r>
              <a:rPr sz="1300">
                <a:solidFill>
                  <a:srgbClr val="9CA3AF"/>
                </a:solidFill>
                <a:latin typeface="Consolas"/>
              </a:rPr>
              <a:t>(results)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26│</a:t>
            </a:r>
            <a:r>
              <a:rPr sz="1300">
                <a:solidFill>
                  <a:srgbClr val="9CA3AF"/>
                </a:solidFill>
                <a:latin typeface="Consolas"/>
              </a:rPr>
              <a:t>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27│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28│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r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results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29│</a:t>
            </a:r>
            <a:r>
              <a:rPr sz="1300">
                <a:solidFill>
                  <a:srgbClr val="E5C07B"/>
                </a:solidFill>
                <a:latin typeface="Consolas"/>
              </a:rPr>
              <a:t>    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(r)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30│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🔄 执行流程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1️⃣ 创建 jobs/results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2️⃣ 启动 N 个 worker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3️⃣ 发送任务 → close(jobs)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4️⃣ Wait → close(results)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5️⃣ range 收集结果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30175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411480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4160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✅ 关键点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先 close(jobs)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后 wg.Wait()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再 close(results)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06 · 并发模式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6.2 Pipeline 流水线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Pipeline 模式实现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5C6370"/>
                </a:solidFill>
                <a:latin typeface="Consolas"/>
              </a:rPr>
              <a:t>// 阶段1: 生成数字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gen</a:t>
            </a:r>
            <a:r>
              <a:rPr sz="1300">
                <a:solidFill>
                  <a:srgbClr val="9CA3AF"/>
                </a:solidFill>
                <a:latin typeface="Consolas"/>
              </a:rPr>
              <a:t>(nums ...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 &lt;-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    out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close</a:t>
            </a:r>
            <a:r>
              <a:rPr sz="1300">
                <a:solidFill>
                  <a:srgbClr val="9CA3AF"/>
                </a:solidFill>
                <a:latin typeface="Consolas"/>
              </a:rPr>
              <a:t>(out)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_, n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nums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out &lt;- n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out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5C6370"/>
                </a:solidFill>
                <a:latin typeface="Consolas"/>
              </a:rPr>
              <a:t>// 阶段2: 平方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sq</a:t>
            </a:r>
            <a:r>
              <a:rPr sz="1300">
                <a:solidFill>
                  <a:srgbClr val="9CA3AF"/>
                </a:solidFill>
                <a:latin typeface="Consolas"/>
              </a:rPr>
              <a:t>(in &lt;-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 &lt;-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    out := </a:t>
            </a:r>
            <a:r>
              <a:rPr sz="1300">
                <a:solidFill>
                  <a:srgbClr val="61AFEF"/>
                </a:solidFill>
                <a:latin typeface="Consolas"/>
              </a:rPr>
              <a:t>make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chan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E5C07B"/>
                </a:solidFill>
                <a:latin typeface="Consolas"/>
              </a:rPr>
              <a:t>int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close</a:t>
            </a:r>
            <a:r>
              <a:rPr sz="1300">
                <a:solidFill>
                  <a:srgbClr val="9CA3AF"/>
                </a:solidFill>
                <a:latin typeface="Consolas"/>
              </a:rPr>
              <a:t>(out)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n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in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19│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out &lt;- n * n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20│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21│</a:t>
            </a:r>
            <a:r>
              <a:rPr sz="1300">
                <a:solidFill>
                  <a:srgbClr val="9CA3AF"/>
                </a:solidFill>
                <a:latin typeface="Consolas"/>
              </a:rPr>
              <a:t>    }()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22│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out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23│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24│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25│</a:t>
            </a:r>
            <a:r>
              <a:rPr sz="1300">
                <a:solidFill>
                  <a:srgbClr val="5C6370"/>
                </a:solidFill>
                <a:latin typeface="Consolas"/>
              </a:rPr>
              <a:t>// 使用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26│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n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sq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61AFEF"/>
                </a:solidFill>
                <a:latin typeface="Consolas"/>
              </a:rPr>
              <a:t>gen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2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3</a:t>
            </a:r>
            <a:r>
              <a:rPr sz="1300">
                <a:solidFill>
                  <a:srgbClr val="9CA3AF"/>
                </a:solidFill>
                <a:latin typeface="Consolas"/>
              </a:rPr>
              <a:t>))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27│</a:t>
            </a:r>
            <a:r>
              <a:rPr sz="1300">
                <a:solidFill>
                  <a:srgbClr val="E5C07B"/>
                </a:solidFill>
                <a:latin typeface="Consolas"/>
              </a:rPr>
              <a:t>    fmt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Println</a:t>
            </a:r>
            <a:r>
              <a:rPr sz="1300">
                <a:solidFill>
                  <a:srgbClr val="9CA3AF"/>
                </a:solidFill>
                <a:latin typeface="Consolas"/>
              </a:rPr>
              <a:t>(n)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28│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🔀 Pipeline 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阶段间用 channel 连接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每个阶段独立 goroutine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数据单向流动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可组合、可扩展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657600"/>
            <a:ext cx="301752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365760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703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应用场景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1148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数据处理流水线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ETL 数据转换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图像处理管道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每阶段职责单一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高级工具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07 · 高级工具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7.1 errgroup 错误处理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errgroup 使用示例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import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98C379"/>
                </a:solidFill>
                <a:latin typeface="Consolas"/>
              </a:rPr>
              <a:t>"golang.org/x/sync/errgroup"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fetchAll</a:t>
            </a:r>
            <a:r>
              <a:rPr sz="1300">
                <a:solidFill>
                  <a:srgbClr val="9CA3AF"/>
                </a:solidFill>
                <a:latin typeface="Consolas"/>
              </a:rPr>
              <a:t>(urls []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) </a:t>
            </a:r>
            <a:r>
              <a:rPr sz="1300">
                <a:solidFill>
                  <a:srgbClr val="E5C07B"/>
                </a:solidFill>
                <a:latin typeface="Consolas"/>
              </a:rPr>
              <a:t>error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g := </a:t>
            </a:r>
            <a:r>
              <a:rPr sz="1300">
                <a:solidFill>
                  <a:srgbClr val="61AFEF"/>
                </a:solidFill>
                <a:latin typeface="Consolas"/>
              </a:rPr>
              <a:t>new</a:t>
            </a:r>
            <a:r>
              <a:rPr sz="1300">
                <a:solidFill>
                  <a:srgbClr val="9CA3AF"/>
                </a:solidFill>
                <a:latin typeface="Consolas"/>
              </a:rPr>
              <a:t>(errgroup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Group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for</a:t>
            </a:r>
            <a:r>
              <a:rPr sz="1300">
                <a:solidFill>
                  <a:srgbClr val="9CA3AF"/>
                </a:solidFill>
                <a:latin typeface="Consolas"/>
              </a:rPr>
              <a:t> _, url := </a:t>
            </a:r>
            <a:r>
              <a:rPr sz="1300">
                <a:solidFill>
                  <a:srgbClr val="FF6B9D"/>
                </a:solidFill>
                <a:latin typeface="Consolas"/>
              </a:rPr>
              <a:t>range</a:t>
            </a:r>
            <a:r>
              <a:rPr sz="1300">
                <a:solidFill>
                  <a:srgbClr val="9CA3AF"/>
                </a:solidFill>
                <a:latin typeface="Consolas"/>
              </a:rPr>
              <a:t> urls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url := url  </a:t>
            </a:r>
            <a:r>
              <a:rPr sz="1300">
                <a:solidFill>
                  <a:srgbClr val="5C6370"/>
                </a:solidFill>
                <a:latin typeface="Consolas"/>
              </a:rPr>
              <a:t>// 捕获变量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g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Go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</a:t>
            </a:r>
            <a:r>
              <a:rPr sz="1300">
                <a:solidFill>
                  <a:srgbClr val="E5C07B"/>
                </a:solidFill>
                <a:latin typeface="Consolas"/>
              </a:rPr>
              <a:t>error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resp, err := http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Get</a:t>
            </a:r>
            <a:r>
              <a:rPr sz="1300">
                <a:solidFill>
                  <a:srgbClr val="9CA3AF"/>
                </a:solidFill>
                <a:latin typeface="Consolas"/>
              </a:rPr>
              <a:t>(url)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</a:t>
            </a:r>
            <a:r>
              <a:rPr sz="1300">
                <a:solidFill>
                  <a:srgbClr val="FF6B9D"/>
                </a:solidFill>
                <a:latin typeface="Consolas"/>
              </a:rPr>
              <a:t>if</a:t>
            </a:r>
            <a:r>
              <a:rPr sz="1300">
                <a:solidFill>
                  <a:srgbClr val="9CA3AF"/>
                </a:solidFill>
                <a:latin typeface="Consolas"/>
              </a:rPr>
              <a:t> err != </a:t>
            </a:r>
            <a:r>
              <a:rPr sz="1300">
                <a:solidFill>
                  <a:srgbClr val="FF6B9D"/>
                </a:solidFill>
                <a:latin typeface="Consolas"/>
              </a:rPr>
              <a:t>nil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err  </a:t>
            </a:r>
            <a:r>
              <a:rPr sz="1300">
                <a:solidFill>
                  <a:srgbClr val="5C6370"/>
                </a:solidFill>
                <a:latin typeface="Consolas"/>
              </a:rPr>
              <a:t>// 第一个错误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resp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Body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Close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FF6B9D"/>
                </a:solidFill>
                <a:latin typeface="Consolas"/>
              </a:rPr>
              <a:t>nil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})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g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Wait</a:t>
            </a:r>
            <a:r>
              <a:rPr sz="1300">
                <a:solidFill>
                  <a:srgbClr val="9CA3AF"/>
                </a:solidFill>
                <a:latin typeface="Consolas"/>
              </a:rPr>
              <a:t>()  </a:t>
            </a:r>
            <a:r>
              <a:rPr sz="1300">
                <a:solidFill>
                  <a:srgbClr val="5C6370"/>
                </a:solidFill>
                <a:latin typeface="Consolas"/>
              </a:rPr>
              <a:t>// 等待并返回错误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19│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🎁 核心功能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Go() 启动任务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Wait() 等待完成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返回第一个错误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自动传播取消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简化错误处理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840480"/>
            <a:ext cx="30175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886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✅ 最佳实践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2976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替代 WaitGroup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需要错误处理时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配合 Context 使用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WithContext() 获取 ctx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07 · 高级工具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7.2 Rate Limiter 限流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Rate Limiter 使用示例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import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98C379"/>
                </a:solidFill>
                <a:latin typeface="Consolas"/>
              </a:rPr>
              <a:t>"golang.org/x/time/rate"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5C6370"/>
                </a:solidFill>
                <a:latin typeface="Consolas"/>
              </a:rPr>
              <a:t>// 10 req/s, 突发容量20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limiter := rate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NewLimiter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  <a:r>
              <a:rPr sz="1300">
                <a:solidFill>
                  <a:srgbClr val="D19A66"/>
                </a:solidFill>
                <a:latin typeface="Consolas"/>
              </a:rPr>
              <a:t>10</a:t>
            </a:r>
            <a:r>
              <a:rPr sz="1300">
                <a:solidFill>
                  <a:srgbClr val="9CA3AF"/>
                </a:solidFill>
                <a:latin typeface="Consolas"/>
              </a:rPr>
              <a:t>, </a:t>
            </a:r>
            <a:r>
              <a:rPr sz="1300">
                <a:solidFill>
                  <a:srgbClr val="D19A66"/>
                </a:solidFill>
                <a:latin typeface="Consolas"/>
              </a:rPr>
              <a:t>20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callAPI</a:t>
            </a:r>
            <a:r>
              <a:rPr sz="1300">
                <a:solidFill>
                  <a:srgbClr val="9CA3AF"/>
                </a:solidFill>
                <a:latin typeface="Consolas"/>
              </a:rPr>
              <a:t>(ctx context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Context</a:t>
            </a:r>
            <a:r>
              <a:rPr sz="1300">
                <a:solidFill>
                  <a:srgbClr val="9CA3AF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等待许可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if</a:t>
            </a:r>
            <a:r>
              <a:rPr sz="1300">
                <a:solidFill>
                  <a:srgbClr val="9CA3AF"/>
                </a:solidFill>
                <a:latin typeface="Consolas"/>
              </a:rPr>
              <a:t> err := limiter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Wait</a:t>
            </a:r>
            <a:r>
              <a:rPr sz="1300">
                <a:solidFill>
                  <a:srgbClr val="9CA3AF"/>
                </a:solidFill>
                <a:latin typeface="Consolas"/>
              </a:rPr>
              <a:t>(ctx); err != </a:t>
            </a:r>
            <a:r>
              <a:rPr sz="1300">
                <a:solidFill>
                  <a:srgbClr val="FF6B9D"/>
                </a:solidFill>
                <a:latin typeface="Consolas"/>
              </a:rPr>
              <a:t>nil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上下文取消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执行API调用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61AFEF"/>
                </a:solidFill>
                <a:latin typeface="Consolas"/>
              </a:rPr>
              <a:t>doHTTPRequest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5C6370"/>
                </a:solidFill>
                <a:latin typeface="Consolas"/>
              </a:rPr>
              <a:t>// 非阻塞检查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FF6B9D"/>
                </a:solidFill>
                <a:latin typeface="Consolas"/>
              </a:rPr>
              <a:t>if</a:t>
            </a:r>
            <a:r>
              <a:rPr sz="1300">
                <a:solidFill>
                  <a:srgbClr val="9CA3AF"/>
                </a:solidFill>
                <a:latin typeface="Consolas"/>
              </a:rPr>
              <a:t> limiter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Allow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61AFEF"/>
                </a:solidFill>
                <a:latin typeface="Consolas"/>
              </a:rPr>
              <a:t>doWork</a:t>
            </a:r>
            <a:r>
              <a:rPr sz="1300">
                <a:solidFill>
                  <a:srgbClr val="9CA3AF"/>
                </a:solidFill>
                <a:latin typeface="Consolas"/>
              </a:rPr>
              <a:t>()  </a:t>
            </a:r>
            <a:r>
              <a:rPr sz="1300">
                <a:solidFill>
                  <a:srgbClr val="5C6370"/>
                </a:solidFill>
                <a:latin typeface="Consolas"/>
              </a:rPr>
              <a:t>// 有配额才执行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19│</a:t>
            </a:r>
            <a:r>
              <a:rPr sz="1300">
                <a:solidFill>
                  <a:srgbClr val="9CA3AF"/>
                </a:solidFill>
                <a:latin typeface="Consolas"/>
              </a:rPr>
              <a:t>} </a:t>
            </a:r>
            <a:r>
              <a:rPr sz="1300">
                <a:solidFill>
                  <a:srgbClr val="FF6B9D"/>
                </a:solidFill>
                <a:latin typeface="Consolas"/>
              </a:rPr>
              <a:t>else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20│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拒绝请求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21│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🚦 三种模式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Wait(ctx) — 阻塞等待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Allow() — 非阻塞检查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Reserve() — 预定令牌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参数: (速率, 突发容量)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30175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411480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4160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实战场景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交易所 API 限频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防止流量突刺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平滑请求速率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性能优化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08 · 性能优化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8.1 sync.Pool 对象复用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sync.Pool 使用示例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var</a:t>
            </a:r>
            <a:r>
              <a:rPr sz="1300">
                <a:solidFill>
                  <a:srgbClr val="9CA3AF"/>
                </a:solidFill>
                <a:latin typeface="Consolas"/>
              </a:rPr>
              <a:t> bufferPool = sync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Pool</a:t>
            </a:r>
            <a:r>
              <a:rPr sz="1300">
                <a:solidFill>
                  <a:srgbClr val="9CA3A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>    New</a:t>
            </a:r>
            <a:r>
              <a:rPr sz="1300">
                <a:solidFill>
                  <a:srgbClr val="9CA3AF"/>
                </a:solidFill>
                <a:latin typeface="Consolas"/>
              </a:rPr>
              <a:t>: 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() </a:t>
            </a:r>
            <a:r>
              <a:rPr sz="1300">
                <a:solidFill>
                  <a:srgbClr val="FF6B9D"/>
                </a:solidFill>
                <a:latin typeface="Consolas"/>
              </a:rPr>
              <a:t>interface</a:t>
            </a:r>
            <a:r>
              <a:rPr sz="1300">
                <a:solidFill>
                  <a:srgbClr val="9CA3AF"/>
                </a:solidFill>
                <a:latin typeface="Consolas"/>
              </a:rPr>
              <a:t>{}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new</a:t>
            </a:r>
            <a:r>
              <a:rPr sz="1300">
                <a:solidFill>
                  <a:srgbClr val="9CA3AF"/>
                </a:solidFill>
                <a:latin typeface="Consolas"/>
              </a:rPr>
              <a:t>(bytes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Buffer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},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61AFEF"/>
                </a:solidFill>
                <a:latin typeface="Consolas"/>
              </a:rPr>
              <a:t>processData</a:t>
            </a:r>
            <a:r>
              <a:rPr sz="1300">
                <a:solidFill>
                  <a:srgbClr val="9CA3AF"/>
                </a:solidFill>
                <a:latin typeface="Consolas"/>
              </a:rPr>
              <a:t>(data </a:t>
            </a:r>
            <a:r>
              <a:rPr sz="1300">
                <a:solidFill>
                  <a:srgbClr val="E5C07B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从池中获取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    buf := bufferPool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Get</a:t>
            </a:r>
            <a:r>
              <a:rPr sz="1300">
                <a:solidFill>
                  <a:srgbClr val="9CA3AF"/>
                </a:solidFill>
                <a:latin typeface="Consolas"/>
              </a:rPr>
              <a:t>().(</a:t>
            </a:r>
            <a:r>
              <a:rPr sz="1300">
                <a:solidFill>
                  <a:srgbClr val="9CA3AF"/>
                </a:solidFill>
                <a:latin typeface="Consolas"/>
              </a:rPr>
              <a:t>*bytes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E5C07B"/>
                </a:solidFill>
                <a:latin typeface="Consolas"/>
              </a:rPr>
              <a:t>Buffer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defer</a:t>
            </a:r>
            <a:r>
              <a:rPr sz="1300">
                <a:solidFill>
                  <a:srgbClr val="9CA3AF"/>
                </a:solidFill>
                <a:latin typeface="Consolas"/>
              </a:rPr>
              <a:t> bufferPool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Put</a:t>
            </a:r>
            <a:r>
              <a:rPr sz="1300">
                <a:solidFill>
                  <a:srgbClr val="9CA3AF"/>
                </a:solidFill>
                <a:latin typeface="Consolas"/>
              </a:rPr>
              <a:t>(buf)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重置状态（关键！）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    buf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Reset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使用buffer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9CA3AF"/>
                </a:solidFill>
                <a:latin typeface="Consolas"/>
              </a:rPr>
              <a:t>    buf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WriteString</a:t>
            </a:r>
            <a:r>
              <a:rPr sz="1300">
                <a:solidFill>
                  <a:srgbClr val="9CA3AF"/>
                </a:solidFill>
                <a:latin typeface="Consolas"/>
              </a:rPr>
              <a:t>(data)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9CA3AF"/>
                </a:solidFill>
                <a:latin typeface="Consolas"/>
              </a:rPr>
              <a:t>    result := buf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String</a:t>
            </a:r>
            <a:r>
              <a:rPr sz="1300">
                <a:solidFill>
                  <a:srgbClr val="9CA3AF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5C6370"/>
                </a:solidFill>
                <a:latin typeface="Consolas"/>
              </a:rPr>
              <a:t>// ... 处理result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19│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♻️ 复用机制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Get() 获取对象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Put() 归还对象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New() 创建新对象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GC 时可能清空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必须重置状态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840480"/>
            <a:ext cx="30175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886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适用场景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2976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高频临时对象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bytes.Buffer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[]byte 切片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减少 GC 压力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08 · 性能优化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8.2 Atomic 原子操作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93776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onsolas"/>
              </a:defRPr>
            </a:pPr>
            <a:r>
              <a:t>Atomic 原子操作示例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1│</a:t>
            </a:r>
            <a:r>
              <a:rPr sz="1300">
                <a:solidFill>
                  <a:srgbClr val="FF6B9D"/>
                </a:solidFill>
                <a:latin typeface="Consolas"/>
              </a:rPr>
              <a:t>import</a:t>
            </a:r>
            <a:r>
              <a:rPr sz="1300">
                <a:solidFill>
                  <a:srgbClr val="9CA3AF"/>
                </a:solidFill>
                <a:latin typeface="Consolas"/>
              </a:rPr>
              <a:t> </a:t>
            </a:r>
            <a:r>
              <a:rPr sz="1300">
                <a:solidFill>
                  <a:srgbClr val="98C379"/>
                </a:solidFill>
                <a:latin typeface="Consolas"/>
              </a:rPr>
              <a:t>"sync/atomic"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2│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3│</a:t>
            </a:r>
            <a:r>
              <a:rPr sz="1300">
                <a:solidFill>
                  <a:srgbClr val="FF6B9D"/>
                </a:solidFill>
                <a:latin typeface="Consolas"/>
              </a:rPr>
              <a:t>type</a:t>
            </a:r>
            <a:r>
              <a:rPr sz="1300">
                <a:solidFill>
                  <a:srgbClr val="9CA3AF"/>
                </a:solidFill>
                <a:latin typeface="Consolas"/>
              </a:rPr>
              <a:t> Counter </a:t>
            </a:r>
            <a:r>
              <a:rPr sz="1300">
                <a:solidFill>
                  <a:srgbClr val="FF6B9D"/>
                </a:solidFill>
                <a:latin typeface="Consolas"/>
              </a:rPr>
              <a:t>struct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4│</a:t>
            </a:r>
            <a:r>
              <a:rPr sz="1300">
                <a:solidFill>
                  <a:srgbClr val="9CA3AF"/>
                </a:solidFill>
                <a:latin typeface="Consolas"/>
              </a:rPr>
              <a:t>    value </a:t>
            </a:r>
            <a:r>
              <a:rPr sz="1300">
                <a:solidFill>
                  <a:srgbClr val="E5C07B"/>
                </a:solidFill>
                <a:latin typeface="Consolas"/>
              </a:rPr>
              <a:t>int64</a:t>
            </a:r>
            <a:r>
              <a:rPr sz="1300">
                <a:solidFill>
                  <a:srgbClr val="9CA3AF"/>
                </a:solidFill>
                <a:latin typeface="Consolas"/>
              </a:rPr>
              <a:t>  </a:t>
            </a:r>
            <a:r>
              <a:rPr sz="1300">
                <a:solidFill>
                  <a:srgbClr val="5C6370"/>
                </a:solidFill>
                <a:latin typeface="Consolas"/>
              </a:rPr>
              <a:t>// 必须64位对齐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5│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6│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7│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*Counter) </a:t>
            </a:r>
            <a:r>
              <a:rPr sz="1300">
                <a:solidFill>
                  <a:srgbClr val="61AFEF"/>
                </a:solidFill>
                <a:latin typeface="Consolas"/>
              </a:rPr>
              <a:t>Inc</a:t>
            </a:r>
            <a:r>
              <a:rPr sz="1300">
                <a:solidFill>
                  <a:srgbClr val="9CA3AF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8│</a:t>
            </a:r>
            <a:r>
              <a:rPr sz="1300">
                <a:solidFill>
                  <a:srgbClr val="9CA3AF"/>
                </a:solidFill>
                <a:latin typeface="Consolas"/>
              </a:rPr>
              <a:t>    atomic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AddInt64</a:t>
            </a:r>
            <a:r>
              <a:rPr sz="1300">
                <a:solidFill>
                  <a:srgbClr val="9CA3AF"/>
                </a:solidFill>
                <a:latin typeface="Consolas"/>
              </a:rPr>
              <a:t>(&amp;c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value, </a:t>
            </a:r>
            <a:r>
              <a:rPr sz="1300">
                <a:solidFill>
                  <a:srgbClr val="D19A66"/>
                </a:solidFill>
                <a:latin typeface="Consolas"/>
              </a:rPr>
              <a:t>1</a:t>
            </a:r>
            <a:r>
              <a:rPr sz="1300">
                <a:solidFill>
                  <a:srgbClr val="9CA3A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 9│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10│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11│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*Counter) </a:t>
            </a:r>
            <a:r>
              <a:rPr sz="1300">
                <a:solidFill>
                  <a:srgbClr val="61AFEF"/>
                </a:solidFill>
                <a:latin typeface="Consolas"/>
              </a:rPr>
              <a:t>Get</a:t>
            </a:r>
            <a:r>
              <a:rPr sz="1300">
                <a:solidFill>
                  <a:srgbClr val="9CA3AF"/>
                </a:solidFill>
                <a:latin typeface="Consolas"/>
              </a:rPr>
              <a:t>() </a:t>
            </a:r>
            <a:r>
              <a:rPr sz="1300">
                <a:solidFill>
                  <a:srgbClr val="E5C07B"/>
                </a:solidFill>
                <a:latin typeface="Consolas"/>
              </a:rPr>
              <a:t>int64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12│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atomic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LoadInt64</a:t>
            </a:r>
            <a:r>
              <a:rPr sz="1300">
                <a:solidFill>
                  <a:srgbClr val="9CA3AF"/>
                </a:solidFill>
                <a:latin typeface="Consolas"/>
              </a:rPr>
              <a:t>(&amp;c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value)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13│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14│</a:t>
            </a:r>
            <a:r>
              <a:rPr sz="13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15│</a:t>
            </a:r>
            <a:r>
              <a:rPr sz="1300">
                <a:solidFill>
                  <a:srgbClr val="5C6370"/>
                </a:solidFill>
                <a:latin typeface="Consolas"/>
              </a:rPr>
              <a:t>// CAS 乐观锁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16│</a:t>
            </a:r>
            <a:r>
              <a:rPr sz="1300">
                <a:solidFill>
                  <a:srgbClr val="FF6B9D"/>
                </a:solidFill>
                <a:latin typeface="Consolas"/>
              </a:rPr>
              <a:t>func</a:t>
            </a:r>
            <a:r>
              <a:rPr sz="1300">
                <a:solidFill>
                  <a:srgbClr val="9CA3AF"/>
                </a:solidFill>
                <a:latin typeface="Consolas"/>
              </a:rPr>
              <a:t> (c *Counter) </a:t>
            </a:r>
            <a:r>
              <a:rPr sz="1300">
                <a:solidFill>
                  <a:srgbClr val="61AFEF"/>
                </a:solidFill>
                <a:latin typeface="Consolas"/>
              </a:rPr>
              <a:t>CAS</a:t>
            </a:r>
            <a:r>
              <a:rPr sz="1300">
                <a:solidFill>
                  <a:srgbClr val="9CA3AF"/>
                </a:solidFill>
                <a:latin typeface="Consolas"/>
              </a:rPr>
              <a:t>(old, new </a:t>
            </a:r>
            <a:r>
              <a:rPr sz="1300">
                <a:solidFill>
                  <a:srgbClr val="E5C07B"/>
                </a:solidFill>
                <a:latin typeface="Consolas"/>
              </a:rPr>
              <a:t>int64</a:t>
            </a:r>
            <a:r>
              <a:rPr sz="1300">
                <a:solidFill>
                  <a:srgbClr val="9CA3AF"/>
                </a:solidFill>
                <a:latin typeface="Consolas"/>
              </a:rPr>
              <a:t>) </a:t>
            </a:r>
            <a:r>
              <a:rPr sz="1300">
                <a:solidFill>
                  <a:srgbClr val="E5C07B"/>
                </a:solidFill>
                <a:latin typeface="Consolas"/>
              </a:rPr>
              <a:t>bool</a:t>
            </a:r>
            <a:r>
              <a:rPr sz="1300">
                <a:solidFill>
                  <a:srgbClr val="9CA3AF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17│</a:t>
            </a:r>
            <a:r>
              <a:rPr sz="1300">
                <a:solidFill>
                  <a:srgbClr val="9CA3AF"/>
                </a:solidFill>
                <a:latin typeface="Consolas"/>
              </a:rPr>
              <a:t>    </a:t>
            </a:r>
            <a:r>
              <a:rPr sz="1300">
                <a:solidFill>
                  <a:srgbClr val="FF6B9D"/>
                </a:solidFill>
                <a:latin typeface="Consolas"/>
              </a:rPr>
              <a:t>return</a:t>
            </a:r>
            <a:r>
              <a:rPr sz="1300">
                <a:solidFill>
                  <a:srgbClr val="9CA3AF"/>
                </a:solidFill>
                <a:latin typeface="Consolas"/>
              </a:rPr>
              <a:t> atomic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61AFEF"/>
                </a:solidFill>
                <a:latin typeface="Consolas"/>
              </a:rPr>
              <a:t>CompareAndSwapInt64</a:t>
            </a:r>
            <a:r>
              <a:rPr sz="1300">
                <a:solidFill>
                  <a:srgbClr val="9CA3AF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18│</a:t>
            </a:r>
            <a:r>
              <a:rPr sz="1300">
                <a:solidFill>
                  <a:srgbClr val="9CA3AF"/>
                </a:solidFill>
                <a:latin typeface="Consolas"/>
              </a:rPr>
              <a:t>        &amp;c</a:t>
            </a:r>
            <a:r>
              <a:rPr sz="1300">
                <a:solidFill>
                  <a:srgbClr val="9CA3AF"/>
                </a:solidFill>
                <a:latin typeface="Consolas"/>
              </a:rPr>
              <a:t>.</a:t>
            </a:r>
            <a:r>
              <a:rPr sz="1300">
                <a:solidFill>
                  <a:srgbClr val="9CA3AF"/>
                </a:solidFill>
                <a:latin typeface="Consolas"/>
              </a:rPr>
              <a:t>value, old, new,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19│</a:t>
            </a:r>
            <a:r>
              <a:rPr sz="1300">
                <a:solidFill>
                  <a:srgbClr val="9CA3AF"/>
                </a:solidFill>
                <a:latin typeface="Consolas"/>
              </a:rPr>
              <a:t>    )</a:t>
            </a:r>
          </a:p>
          <a:p>
            <a:pPr>
              <a:spcAft>
                <a:spcPts val="200"/>
              </a:spcAft>
              <a:defRPr sz="1300">
                <a:latin typeface="Consolas"/>
              </a:defRPr>
            </a:pPr>
            <a:r>
              <a:rPr sz="1300">
                <a:solidFill>
                  <a:srgbClr val="5C6370"/>
                </a:solidFill>
                <a:latin typeface="Consolas"/>
              </a:rPr>
              <a:t>20│</a:t>
            </a:r>
            <a:r>
              <a:rPr sz="13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30175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30175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⚛️ 原子操作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0312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AddInt64 — 加法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LoadInt64 — 读取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StoreInt64 — 写入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SwapInt64 — 交换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CompareAndSwap — 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30175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4114800"/>
            <a:ext cx="3017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4160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✅ 性能优势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无锁开销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单变量操作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比 Mutex 快 10x+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微软雅黑"/>
              </a:defRPr>
            </a:pPr>
            <a:r>
              <a:t>Go 并发编程知识图谱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280160" cy="548640"/>
          </a:xfrm>
          <a:prstGeom prst="roundRect">
            <a:avLst/>
          </a:prstGeom>
          <a:solidFill>
            <a:srgbClr val="6366F1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创建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go func()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103120.0"/>
            <a:ext cx="27432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1828800"/>
            <a:ext cx="1280160" cy="548640"/>
          </a:xfrm>
          <a:prstGeom prst="roundRect">
            <a:avLst/>
          </a:prstGeom>
          <a:solidFill>
            <a:srgbClr val="A855F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920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就绪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等待调度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2103120.0"/>
            <a:ext cx="27432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1828800"/>
            <a:ext cx="128016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20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执行代码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2103120.0"/>
            <a:ext cx="27432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0640" y="1828800"/>
            <a:ext cx="1280160" cy="548640"/>
          </a:xfrm>
          <a:prstGeom prst="round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920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阻塞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等待I/O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2103120.0"/>
            <a:ext cx="27432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75120" y="1828800"/>
            <a:ext cx="1280160" cy="548640"/>
          </a:xfrm>
          <a:prstGeom prst="roundRect">
            <a:avLst/>
          </a:prstGeom>
          <a:solidFill>
            <a:srgbClr val="6B7280"/>
          </a:solidFill>
          <a:ln w="254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920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退出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26080"/>
            <a:ext cx="411480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2926080"/>
            <a:ext cx="41148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9718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🎯 核心知识点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3832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Goroutine — 轻量级协程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Channel — 通信机制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Select — 多路复用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Context — 取消控制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Mutex — 互斥保护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WaitGroup — 等待同步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Worker Pool — 并发限流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errgroup — 错误处理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atomic — 原子操作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sync.Pool — 对象复用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1828800"/>
            <a:ext cx="39319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54880" y="1828800"/>
            <a:ext cx="3931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💡 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2860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通过通信来共享内存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不要通过共享内存来通信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能 atomic 不 Mutex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能 channel 不锁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优雅停机是必选项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3840480"/>
            <a:ext cx="39319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54880" y="3840480"/>
            <a:ext cx="39319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886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⚠️ 常见陷阱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2976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忘记等待 goroutine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忘记 close channel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接收方 close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循环变量捕获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• goroutine 泄漏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3A8A"/>
                </a:solidFill>
                <a:latin typeface="微软雅黑"/>
              </a:defRPr>
            </a:pPr>
            <a:r>
              <a:t>感谢观看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
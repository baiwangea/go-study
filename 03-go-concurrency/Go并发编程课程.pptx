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9144000" cy="2743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Go 并发编程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从基础到实战：掌握 Goroutines、Channels 与并发模式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DC3C7"/>
                </a:solidFill>
              </a:defRPr>
            </a:pPr>
            <a:r>
              <a:t>企业级 Go 开发课程</a:t>
            </a:r>
          </a:p>
          <a:p>
            <a:pPr algn="ctr">
              <a:defRPr sz="1600">
                <a:solidFill>
                  <a:srgbClr val="BDC3C7"/>
                </a:solidFill>
              </a:defRPr>
            </a:pPr>
            <a:r>
              <a:t>适用于中高级开发者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课程大纲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188720"/>
            <a:ext cx="7315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第一章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18872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Go 并发基础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188720"/>
            <a:ext cx="41148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>
                <a:solidFill>
                  <a:srgbClr val="7F8C8D"/>
                </a:solidFill>
              </a:defRPr>
            </a:pPr>
            <a:r>
              <a:t>并发模型、调度器、Goroutine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691640"/>
            <a:ext cx="7315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第二章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69164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Goroutines 深入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41148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>
                <a:solidFill>
                  <a:srgbClr val="7F8C8D"/>
                </a:solidFill>
              </a:defRPr>
            </a:pPr>
            <a:r>
              <a:t>创建、同步、常见陷阱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194560"/>
            <a:ext cx="7315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第三章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19456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Channels 通信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194560"/>
            <a:ext cx="41148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>
                <a:solidFill>
                  <a:srgbClr val="7F8C8D"/>
                </a:solidFill>
              </a:defRPr>
            </a:pPr>
            <a:r>
              <a:t>无缓冲、有缓冲、关闭与遍历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697480"/>
            <a:ext cx="7315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第四章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69748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Select 多路复用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697480"/>
            <a:ext cx="41148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>
                <a:solidFill>
                  <a:srgbClr val="7F8C8D"/>
                </a:solidFill>
              </a:defRPr>
            </a:pPr>
            <a:r>
              <a:t>多通道操作、超时、非阻塞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00400"/>
            <a:ext cx="7315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第五章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0040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Context 上下文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41148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>
                <a:solidFill>
                  <a:srgbClr val="7F8C8D"/>
                </a:solidFill>
              </a:defRPr>
            </a:pPr>
            <a:r>
              <a:t>取消传播、超时控制、值传递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703320"/>
            <a:ext cx="7315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第六章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70332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同步原语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03320"/>
            <a:ext cx="41148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>
                <a:solidFill>
                  <a:srgbClr val="7F8C8D"/>
                </a:solidFill>
              </a:defRPr>
            </a:pPr>
            <a:r>
              <a:t>Mutex、RWMutex、Once、Pool、Atomic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206240"/>
            <a:ext cx="7315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第七章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0624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并发模式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206240"/>
            <a:ext cx="41148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>
                <a:solidFill>
                  <a:srgbClr val="7F8C8D"/>
                </a:solidFill>
              </a:defRPr>
            </a:pPr>
            <a:r>
              <a:t>Worker Pool、Pipeline、Fan-out/in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709160"/>
            <a:ext cx="7315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第八章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70916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常见陷阱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709160"/>
            <a:ext cx="41148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>
                <a:solidFill>
                  <a:srgbClr val="7F8C8D"/>
                </a:solidFill>
              </a:defRPr>
            </a:pPr>
            <a:r>
              <a:t>竞态条件、Goroutine 泄漏、死锁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5212080"/>
            <a:ext cx="7315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第九章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21208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2C3E50"/>
                </a:solidFill>
              </a:defRPr>
            </a:pPr>
            <a:r>
              <a:t>最佳实践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5212080"/>
            <a:ext cx="41148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>
                <a:solidFill>
                  <a:srgbClr val="7F8C8D"/>
                </a:solidFill>
              </a:defRPr>
            </a:pPr>
            <a:r>
              <a:t>设计原则、性能优化、调试工具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19376D"/>
              </a:gs>
              <a:gs pos="100000">
                <a:srgbClr val="2980B9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第一章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CF0F1"/>
                </a:solidFill>
              </a:defRPr>
            </a:pPr>
            <a:r>
              <a:t>Go 并发基础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并发 vs 并行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498DB"/>
                </a:solidFill>
              </a:defRPr>
            </a:pPr>
            <a:r>
              <a:t>并发 (Concurrency)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单核 CPU 交替执行多个任务</a:t>
            </a:r>
          </a:p>
          <a:p>
            <a:pPr algn="ctr">
              <a:defRPr sz="1200">
                <a:solidFill>
                  <a:srgbClr val="2C3E50"/>
                </a:solidFill>
              </a:defRPr>
            </a:pPr>
            <a:r>
              <a:t>任务在时间片上切换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2560320"/>
            <a:ext cx="914400" cy="457200"/>
          </a:xfrm>
          <a:prstGeom prst="roundRect">
            <a:avLst/>
          </a:prstGeom>
          <a:solidFill>
            <a:srgbClr val="19376D"/>
          </a:solidFill>
          <a:ln w="25400"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CPU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291840"/>
            <a:ext cx="731520" cy="320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任务1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3291840"/>
            <a:ext cx="73152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任务2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399" y="3291840"/>
            <a:ext cx="731520" cy="3200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任务3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980B9"/>
                </a:solidFill>
              </a:defRPr>
            </a:pPr>
            <a:r>
              <a:t>并行 (Parallelism)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8288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多核 CPU 同时执行多个任务</a:t>
            </a:r>
          </a:p>
          <a:p>
            <a:pPr algn="ctr">
              <a:defRPr sz="1200">
                <a:solidFill>
                  <a:srgbClr val="2C3E50"/>
                </a:solidFill>
              </a:defRPr>
            </a:pPr>
            <a:r>
              <a:t>真正的同时运行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2560320"/>
            <a:ext cx="914400" cy="457200"/>
          </a:xfrm>
          <a:prstGeom prst="roundRect">
            <a:avLst/>
          </a:prstGeom>
          <a:solidFill>
            <a:srgbClr val="19376D"/>
          </a:solidFill>
          <a:ln w="25400"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CPU1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3291840"/>
            <a:ext cx="914400" cy="320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任务1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560320"/>
            <a:ext cx="914400" cy="457200"/>
          </a:xfrm>
          <a:prstGeom prst="roundRect">
            <a:avLst/>
          </a:prstGeom>
          <a:solidFill>
            <a:srgbClr val="19376D"/>
          </a:solidFill>
          <a:ln w="25400"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CPU2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291840"/>
            <a:ext cx="9144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任务2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59" y="2560320"/>
            <a:ext cx="914400" cy="457200"/>
          </a:xfrm>
          <a:prstGeom prst="roundRect">
            <a:avLst/>
          </a:prstGeom>
          <a:solidFill>
            <a:srgbClr val="19376D"/>
          </a:solidFill>
          <a:ln w="25400"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CPU3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23759" y="3291840"/>
            <a:ext cx="914400" cy="3200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任务3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035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980B9"/>
                </a:solidFill>
              </a:defRPr>
            </a:pPr>
            <a:r>
              <a:t>💡 Go 的并发模型：用 Goroutines 实现并发，运行时自动在多核上实现并行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Go 调度器：G-M-P 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97280"/>
            <a:ext cx="1371600" cy="3657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G - Goroutine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097280"/>
            <a:ext cx="5486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轻量级协程，用户代码的执行单元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37160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 - Machine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645920"/>
            <a:ext cx="5486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操作系统线程，真正执行代码的载体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1371600" cy="36576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 - Processor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194560"/>
            <a:ext cx="5486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逻辑处理器，调度上下文（默认 = CPU 核数）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2926080"/>
            <a:ext cx="1828800" cy="1097280"/>
          </a:xfrm>
          <a:prstGeom prst="roundRect">
            <a:avLst/>
          </a:prstGeom>
          <a:solidFill>
            <a:srgbClr val="ECF0F1"/>
          </a:solidFill>
          <a:ln w="381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980B9"/>
                </a:solidFill>
              </a:defRPr>
            </a:pPr>
            <a:r>
              <a:t>P</a:t>
            </a:r>
          </a:p>
          <a:p>
            <a:pPr algn="ctr">
              <a:defRPr sz="1400" b="1">
                <a:solidFill>
                  <a:srgbClr val="2980B9"/>
                </a:solidFill>
              </a:defRPr>
            </a:pPr>
            <a:r>
              <a:t>本地队列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4297680"/>
            <a:ext cx="182880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 (OS Thread)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4572000" y="4023360"/>
            <a:ext cx="0" cy="274320"/>
          </a:xfrm>
          <a:prstGeom prst="line">
            <a:avLst/>
          </a:prstGeom>
          <a:ln w="2540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840480" y="3200400"/>
            <a:ext cx="320040" cy="32004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G</a:t>
            </a:r>
          </a:p>
        </p:txBody>
      </p:sp>
      <p:sp>
        <p:nvSpPr>
          <p:cNvPr id="15" name="Oval 14"/>
          <p:cNvSpPr/>
          <p:nvPr/>
        </p:nvSpPr>
        <p:spPr>
          <a:xfrm>
            <a:off x="4206240" y="3200400"/>
            <a:ext cx="320040" cy="32004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G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0" y="3200400"/>
            <a:ext cx="320040" cy="32004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G</a:t>
            </a:r>
          </a:p>
        </p:txBody>
      </p:sp>
      <p:sp>
        <p:nvSpPr>
          <p:cNvPr id="17" name="Oval 16"/>
          <p:cNvSpPr/>
          <p:nvPr/>
        </p:nvSpPr>
        <p:spPr>
          <a:xfrm>
            <a:off x="4937760" y="3200400"/>
            <a:ext cx="320040" cy="32004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200400"/>
            <a:ext cx="1828800" cy="54864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C3E50"/>
                </a:solidFill>
              </a:defRPr>
            </a:pPr>
            <a:r>
              <a:t>全局 G 队列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43200" y="3474720"/>
            <a:ext cx="914400" cy="0"/>
          </a:xfrm>
          <a:prstGeom prst="line">
            <a:avLst/>
          </a:prstGeom>
          <a:ln w="25400">
            <a:solidFill>
              <a:srgbClr val="2C3E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0" y="33832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E74C3C"/>
                </a:solidFill>
              </a:defRPr>
            </a:pPr>
            <a:r>
              <a:t>工作窃取</a:t>
            </a:r>
          </a:p>
          <a:p>
            <a:pPr algn="l">
              <a:defRPr sz="1100">
                <a:solidFill>
                  <a:srgbClr val="E74C3C"/>
                </a:solidFill>
              </a:defRPr>
            </a:pPr>
            <a:r>
              <a:t>(Work Stealing)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9376D"/>
                </a:solidFill>
              </a:defRPr>
            </a:pPr>
            <a:r>
              <a:t>⚡ 特性：M:N 调度（M 个 Goroutine 映射到 N 个 OS 线程）• 抢占式调度 • 工作窃取负载均衡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Goroutine 生命周期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1371600" cy="640080"/>
          </a:xfrm>
          <a:prstGeom prst="roundRect">
            <a:avLst/>
          </a:prstGeom>
          <a:solidFill>
            <a:srgbClr val="27AE60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创建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2468880"/>
            <a:ext cx="1371600" cy="640080"/>
          </a:xfrm>
          <a:prstGeom prst="roundRect">
            <a:avLst/>
          </a:prstGeom>
          <a:solidFill>
            <a:srgbClr val="3498DB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就绪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468880"/>
            <a:ext cx="1371600" cy="640080"/>
          </a:xfrm>
          <a:prstGeom prst="roundRect">
            <a:avLst/>
          </a:prstGeom>
          <a:solidFill>
            <a:srgbClr val="E67E22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运行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468880"/>
            <a:ext cx="1371600" cy="640080"/>
          </a:xfrm>
          <a:prstGeom prst="roundRect">
            <a:avLst/>
          </a:prstGeom>
          <a:solidFill>
            <a:srgbClr val="E74C3C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阻塞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4114800"/>
            <a:ext cx="1371600" cy="548640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完成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14600" y="2011680"/>
            <a:ext cx="0" cy="457200"/>
          </a:xfrm>
          <a:prstGeom prst="line">
            <a:avLst/>
          </a:prstGeom>
          <a:ln w="3175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743200" y="21031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9376D"/>
                </a:solidFill>
              </a:defRPr>
            </a:pPr>
            <a:r>
              <a:t>go func()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788920"/>
            <a:ext cx="1371600" cy="0"/>
          </a:xfrm>
          <a:prstGeom prst="line">
            <a:avLst/>
          </a:prstGeom>
          <a:ln w="3175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24688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9376D"/>
                </a:solidFill>
              </a:defRPr>
            </a:pPr>
            <a:r>
              <a:t>调度器选中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0" y="2788920"/>
            <a:ext cx="1371600" cy="0"/>
          </a:xfrm>
          <a:prstGeom prst="line">
            <a:avLst/>
          </a:prstGeom>
          <a:ln w="3175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126480" y="24688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9376D"/>
                </a:solidFill>
              </a:defRPr>
            </a:pPr>
            <a:r>
              <a:t>I/O、chan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514600" y="3108960"/>
            <a:ext cx="5486400" cy="0"/>
          </a:xfrm>
          <a:prstGeom prst="line">
            <a:avLst/>
          </a:prstGeom>
          <a:ln w="31750">
            <a:solidFill>
              <a:srgbClr val="27AE6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0" y="320040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7AE60"/>
                </a:solidFill>
              </a:defRPr>
            </a:pPr>
            <a:r>
              <a:t>事件就绪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57800" y="3108960"/>
            <a:ext cx="0" cy="1005840"/>
          </a:xfrm>
          <a:prstGeom prst="line">
            <a:avLst/>
          </a:prstGeom>
          <a:ln w="3175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0" y="3474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9376D"/>
                </a:solidFill>
              </a:defRPr>
            </a:pPr>
            <a:r>
              <a:t>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2980B9"/>
                </a:solidFill>
              </a:defRPr>
            </a:pPr>
            <a:r>
              <a:t>💡 Goroutine 创建成本极低（约 2KB 栈空间），可轻松创建数万个并发协程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19376D"/>
              </a:gs>
              <a:gs pos="100000">
                <a:srgbClr val="2980B9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第二章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CF0F1"/>
                </a:solidFill>
              </a:defRPr>
            </a:pPr>
            <a:r>
              <a:t>Goroutines 深入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创建和启动 Goroutine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6576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package main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import (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"fmt"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"time"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sayHello(name string)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fmt.Printf("Hello, %s!\n", name)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main()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// 同步调用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sayHello("World")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// 异步调用 - 启动新的 goroutine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go sayHello("Alice")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go sayHello("Bob")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// 等待 goroutines 执行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time.Sleep(time.Second)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19376D"/>
                </a:solidFill>
              </a:defRPr>
            </a:pPr>
            <a:r>
              <a:t>💡 go 关键字启动新的 goroutine，立即返回不阻塞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WaitGroup：等待所有 Goroutine 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WaitGroup 使用模式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6576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package main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import (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"fmt"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"sync"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"time"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worker(id int, wg *sync.WaitGroup)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defer wg.Done()  // 完成时调用 Done()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fmt.Printf("Worker %d starting\n", id)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time.Sleep(time.Second)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fmt.Printf("Worker %d done\n", id)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main()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var wg sync.WaitGroup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for i := 1; i &lt;= 3; i++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wg.Add(1)  // 启动前 Add(1)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go worker(i, &amp;wg)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wg.Wait()  // 等待所有 goroutine 完成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fmt.Println("All workers done")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19376D"/>
                </a:solidFill>
              </a:defRPr>
            </a:pPr>
            <a:r>
              <a:t>⚠️ 注意：Add() 必须在 go 语句之前调用，否则可能产生竞态条件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闭包陷阱与解决方案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6576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❌ 错误：循环变量被所有 goroutine 共享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for i := 0; i &lt; 3; i++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go func()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fmt.Println(i)  // 可能全部输出 3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✅ 方案 1：传参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for i := 0; i &lt; 3; i++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go func(n int)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fmt.Println(n)  // 正确输出 0, 1, 2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}(i)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✅ 方案 2：新变量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for i := 0; i &lt; 3; i++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i := i  // 创建新变量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go func()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fmt.Println(i)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19376D"/>
                </a:solidFill>
              </a:defRPr>
            </a:pPr>
            <a:r>
              <a:t>⚠️ 循环启动 goroutine 时，必须注意循环变量的作用域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19376D"/>
              </a:gs>
              <a:gs pos="100000">
                <a:srgbClr val="2980B9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第三章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CF0F1"/>
                </a:solidFill>
              </a:defRPr>
            </a:pPr>
            <a:r>
              <a:t>Channels 通信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Channel 类型对比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188720"/>
          <a:ext cx="7315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特性</a:t>
                      </a:r>
                    </a:p>
                  </a:txBody>
                  <a:tcPr>
                    <a:solidFill>
                      <a:srgbClr val="1937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无缓冲 Channel</a:t>
                      </a:r>
                    </a:p>
                  </a:txBody>
                  <a:tcPr>
                    <a:solidFill>
                      <a:srgbClr val="19376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有缓冲 Channel</a:t>
                      </a:r>
                    </a:p>
                  </a:txBody>
                  <a:tcPr>
                    <a:solidFill>
                      <a:srgbClr val="19376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C3E50"/>
                          </a:solidFill>
                        </a:defRPr>
                      </a:pPr>
                      <a:r>
                        <a:t>创建方式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make(chan 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make(chan T, capacity)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C3E50"/>
                          </a:solidFill>
                        </a:defRPr>
                      </a:pPr>
                      <a:r>
                        <a:t>发送行为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阻塞直到接收方就绪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缓冲区未满时立即返回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C3E50"/>
                          </a:solidFill>
                        </a:defRPr>
                      </a:pPr>
                      <a:r>
                        <a:t>接收行为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阻塞直到发送方就绪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缓冲区非空时立即返回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C3E50"/>
                          </a:solidFill>
                        </a:defRPr>
                      </a:pPr>
                      <a:r>
                        <a:t>同步性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强同步（会合点）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异步（解耦生产消费）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C3E50"/>
                          </a:solidFill>
                        </a:defRPr>
                      </a:pPr>
                      <a:r>
                        <a:t>适用场景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事件通知、协程同步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消息队列、削峰填谷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C3E50"/>
                          </a:solidFill>
                        </a:defRPr>
                      </a:pPr>
                      <a:r>
                        <a:t>容量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C3E50"/>
                          </a:solidFill>
                        </a:defRPr>
                      </a:pPr>
                      <a:r>
                        <a:t>固定大小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2980B9"/>
                </a:solidFill>
              </a:defRPr>
            </a:pPr>
            <a:r>
              <a:t>💡 选择原则：需要严格同步用无缓冲；需要削峰填谷用有缓冲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Channel 通信机制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</a:defRPr>
            </a:pPr>
            <a:r>
              <a:t>无缓冲 Channel（同步）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1097280" cy="5486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发送者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阻塞等待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2011680"/>
            <a:ext cx="548640" cy="365760"/>
          </a:xfrm>
          <a:prstGeom prst="rect">
            <a:avLst/>
          </a:prstGeom>
          <a:solidFill>
            <a:srgbClr val="ECF0F1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C3E50"/>
                </a:solidFill>
              </a:defRPr>
            </a:pPr>
            <a:r>
              <a:t>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920240"/>
            <a:ext cx="1097280" cy="5486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接收者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同步接收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2194560"/>
            <a:ext cx="182880" cy="0"/>
          </a:xfrm>
          <a:prstGeom prst="line">
            <a:avLst/>
          </a:prstGeom>
          <a:ln w="381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651760" y="2194560"/>
            <a:ext cx="182880" cy="0"/>
          </a:xfrm>
          <a:prstGeom prst="line">
            <a:avLst/>
          </a:prstGeom>
          <a:ln w="381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28346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E74C3C"/>
                </a:solidFill>
              </a:defRPr>
            </a:pPr>
            <a:r>
              <a:t>必须同时有发送和接收</a:t>
            </a:r>
          </a:p>
          <a:p>
            <a:pPr algn="ctr">
              <a:defRPr sz="1100">
                <a:solidFill>
                  <a:srgbClr val="E74C3C"/>
                </a:solidFill>
              </a:defRPr>
            </a:pPr>
            <a:r>
              <a:t>否则发生死锁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1887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980B9"/>
                </a:solidFill>
              </a:defRPr>
            </a:pPr>
            <a:r>
              <a:t>有缓冲 Channel（异步）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920240"/>
            <a:ext cx="1097280" cy="5486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发送者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非阻塞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011680"/>
            <a:ext cx="274320" cy="365760"/>
          </a:xfrm>
          <a:prstGeom prst="rect">
            <a:avLst/>
          </a:prstGeom>
          <a:solidFill>
            <a:srgbClr val="3498DB"/>
          </a:solidFill>
          <a:ln w="127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29399" y="2011680"/>
            <a:ext cx="274320" cy="365760"/>
          </a:xfrm>
          <a:prstGeom prst="rect">
            <a:avLst/>
          </a:prstGeom>
          <a:solidFill>
            <a:srgbClr val="F0F0F0"/>
          </a:solidFill>
          <a:ln w="127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0" y="2011680"/>
            <a:ext cx="274320" cy="365760"/>
          </a:xfrm>
          <a:prstGeom prst="rect">
            <a:avLst/>
          </a:prstGeom>
          <a:solidFill>
            <a:srgbClr val="F0F0F0"/>
          </a:solidFill>
          <a:ln w="127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4688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cap =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0" y="1920240"/>
            <a:ext cx="1097280" cy="5486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接收者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独立接收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26480" y="2194560"/>
            <a:ext cx="182880" cy="0"/>
          </a:xfrm>
          <a:prstGeom prst="line">
            <a:avLst/>
          </a:prstGeom>
          <a:ln w="381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040880" y="2194560"/>
            <a:ext cx="228600" cy="0"/>
          </a:xfrm>
          <a:prstGeom prst="line">
            <a:avLst/>
          </a:prstGeom>
          <a:ln w="381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754880" y="28346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7AE60"/>
                </a:solidFill>
              </a:defRPr>
            </a:pPr>
            <a:r>
              <a:t>缓冲区未满可继续发送</a:t>
            </a:r>
          </a:p>
          <a:p>
            <a:pPr algn="ctr">
              <a:defRPr sz="1100">
                <a:solidFill>
                  <a:srgbClr val="27AE60"/>
                </a:solidFill>
              </a:defRPr>
            </a:pPr>
            <a:r>
              <a:t>解耦生产者和消费者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01752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C3E50"/>
                </a:solidFill>
                <a:latin typeface="Consolas"/>
              </a:defRPr>
            </a:pPr>
            <a:r>
              <a:t>// 无缓冲</a:t>
            </a:r>
            <a:br/>
            <a:r>
              <a:t>ch1 := make(chan int)</a:t>
            </a:r>
            <a:br/>
            <a:r>
              <a:t>ch1 &lt;- 42  // 阻塞，直到有人接收</a:t>
            </a:r>
            <a:br/>
            <a:br/>
            <a:r>
              <a:t>// 有缓冲</a:t>
            </a:r>
            <a:br/>
            <a:r>
              <a:t>ch2 := make(chan int, 3)</a:t>
            </a:r>
            <a:br/>
            <a:r>
              <a:t>ch2 &lt;- 1  // 立即返回</a:t>
            </a:r>
            <a:br/>
            <a:r>
              <a:t>ch2 &lt;- 2  // 立即返回</a:t>
            </a:r>
            <a:br/>
            <a:r>
              <a:t>ch2 &lt;- 3  // 立即返回</a:t>
            </a:r>
            <a:br/>
            <a:r>
              <a:t>ch2 &lt;- 4  // 阻塞，缓冲区已满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关闭 Channel 与遍历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6576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producer(ch chan int)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for i := 0; i &lt; 5; i++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ch &lt;- i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close(ch)  // 发送方关闭 channel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consumer(ch chan int)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// 方式 1：range 遍历（自动检测关闭）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for val := range ch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fmt.Println(val)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// 方式 2：逗号 ok 模式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for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val, ok := &lt;-ch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if !ok {  // channel 已关闭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break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fmt.Println(val)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19376D"/>
                </a:solidFill>
              </a:defRPr>
            </a:pPr>
            <a:r>
              <a:t>⚠️ 规则：只由发送方关闭，接收方不关闭；不要重复关闭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死锁场景与解决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6576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❌ 死锁 1：无缓冲 channel 无接收者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ch := make(chan int)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ch &lt;- 42  // fatal error: all goroutines are asleep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✅ 解决：启动 goroutine 接收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go func() { &lt;-ch }()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ch &lt;- 42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❌ 死锁 2：循环等待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ch1, ch2 := make(chan int), make(chan int)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go func() { ch1 &lt;- &lt;-ch2 }()  // 等待 ch2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ch2 &lt;- &lt;-ch1  // 等待 ch1，死锁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✅ 解决：使用 select 或缓冲区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ch := make(chan int, 1)  // 有缓冲不会阻塞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19376D"/>
                </a:solidFill>
              </a:defRPr>
            </a:pPr>
            <a:r>
              <a:t>🔍 使用 go run -race 检测死锁和竞态条件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19376D"/>
              </a:gs>
              <a:gs pos="100000">
                <a:srgbClr val="2980B9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第四章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CF0F1"/>
                </a:solidFill>
              </a:defRPr>
            </a:pPr>
            <a:r>
              <a:t>Select 多路复用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Select 多路复用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t>同时监听多个 Channel，哪个就绪就执行哪个（随机选择）</a:t>
            </a:r>
          </a:p>
        </p:txBody>
      </p:sp>
      <p:sp>
        <p:nvSpPr>
          <p:cNvPr id="6" name="Decision 5"/>
          <p:cNvSpPr/>
          <p:nvPr/>
        </p:nvSpPr>
        <p:spPr>
          <a:xfrm>
            <a:off x="3657600" y="1828800"/>
            <a:ext cx="1828800" cy="1097280"/>
          </a:xfrm>
          <a:prstGeom prst="flowChartDecision">
            <a:avLst/>
          </a:prstGeom>
          <a:solidFill>
            <a:srgbClr val="3498DB"/>
          </a:solidFill>
          <a:ln w="38100"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select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474720"/>
            <a:ext cx="109728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case &lt;-ch1: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371600" y="2926080"/>
            <a:ext cx="3200400" cy="548640"/>
          </a:xfrm>
          <a:prstGeom prst="line">
            <a:avLst/>
          </a:prstGeom>
          <a:ln w="3175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023360" y="3474720"/>
            <a:ext cx="1097280" cy="457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case &lt;-ch2: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0" y="2926080"/>
            <a:ext cx="0" cy="548640"/>
          </a:xfrm>
          <a:prstGeom prst="line">
            <a:avLst/>
          </a:prstGeom>
          <a:ln w="3175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223760" y="3474720"/>
            <a:ext cx="109728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case &lt;-ch3: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0" y="2926080"/>
            <a:ext cx="3200400" cy="548640"/>
          </a:xfrm>
          <a:prstGeom prst="line">
            <a:avLst/>
          </a:prstGeom>
          <a:ln w="3175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023360" y="3474720"/>
            <a:ext cx="1097280" cy="4572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default: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0" y="2926080"/>
            <a:ext cx="0" cy="548640"/>
          </a:xfrm>
          <a:prstGeom prst="line">
            <a:avLst/>
          </a:prstGeom>
          <a:ln w="3175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71600" y="4389120"/>
            <a:ext cx="6400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C3E50"/>
                </a:solidFill>
                <a:latin typeface="Consolas"/>
              </a:defRPr>
            </a:pPr>
            <a:r>
              <a:t>select {</a:t>
            </a:r>
            <a:br/>
            <a:r>
              <a:t>case msg1 := &lt;-ch1:</a:t>
            </a:r>
            <a:br/>
            <a:r>
              <a:t>    fmt.Println("从 ch1 接收:", msg1)</a:t>
            </a:r>
            <a:br/>
            <a:r>
              <a:t>case msg2 := &lt;-ch2:</a:t>
            </a:r>
            <a:br/>
            <a:r>
              <a:t>    fmt.Println("从 ch2 接收:", msg2)</a:t>
            </a:r>
            <a:br/>
            <a:r>
              <a:t>case &lt;-time.After(time.Second):</a:t>
            </a:r>
            <a:br/>
            <a:r>
              <a:t>    fmt.Println("超时")</a:t>
            </a:r>
            <a:br/>
            <a:r>
              <a:t>default:</a:t>
            </a:r>
            <a:br/>
            <a:r>
              <a:t>    fmt.Println("没有就绪的 channel")</a:t>
            </a:r>
            <a:br/>
            <a:r>
              <a:t>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超时控制模式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6576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fetchWithTimeout(url string) (string, error)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resultCh := make(chan string, 1)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errCh := make(chan error, 1)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go func()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data, err := fetch(url)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if err != nil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errCh &lt;- err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return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resultCh &lt;- data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select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case data := &lt;-resultCh: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return data, nil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case err := &lt;-errCh: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return "", err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case &lt;-time.After(5 * time.Second):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return "", fmt.Errorf("timeout")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19376D"/>
                </a:solidFill>
              </a:defRPr>
            </a:pPr>
            <a:r>
              <a:t>💡 time.After() 创建超时 channel，避免永久阻塞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非阻塞发送与接收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6576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非阻塞发送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case ch &lt;- value: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fmt.Println("发送成功")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default: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fmt.Println("channel 满了，丢弃")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非阻塞接收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select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case val := &lt;-ch: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fmt.Println("接收到:", val)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default: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fmt.Println("channel 空，不等待")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轮询多个 channel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for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select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case msg := &lt;-ch1: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process(msg)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case msg := &lt;-ch2: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process(msg)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default: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time.Sleep(time.Millisecond * 100)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19376D"/>
                </a:solidFill>
              </a:defRPr>
            </a:pPr>
            <a:r>
              <a:t>⚠️ default 使 select 非阻塞，适合丢弃策略但不适合关键数据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19376D"/>
              </a:gs>
              <a:gs pos="100000">
                <a:srgbClr val="2980B9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第五章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CF0F1"/>
                </a:solidFill>
              </a:defRPr>
            </a:pPr>
            <a:r>
              <a:t>Context 上下文控制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Context 树状结构与取消传播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188720"/>
            <a:ext cx="1828800" cy="457200"/>
          </a:xfrm>
          <a:prstGeom prst="round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context.Background()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103120"/>
            <a:ext cx="1371600" cy="4572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WithCancel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828800" y="1645920"/>
            <a:ext cx="2743200" cy="457200"/>
          </a:xfrm>
          <a:prstGeom prst="line">
            <a:avLst/>
          </a:prstGeom>
          <a:ln w="2540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886200" y="2103120"/>
            <a:ext cx="1371600" cy="457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WithTimeout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0" y="1645920"/>
            <a:ext cx="0" cy="457200"/>
          </a:xfrm>
          <a:prstGeom prst="line">
            <a:avLst/>
          </a:prstGeom>
          <a:ln w="2540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29400" y="2103120"/>
            <a:ext cx="1371600" cy="4572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WithValue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0" y="1645920"/>
            <a:ext cx="2743200" cy="457200"/>
          </a:xfrm>
          <a:prstGeom prst="line">
            <a:avLst/>
          </a:prstGeom>
          <a:ln w="2540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143000" y="3017520"/>
            <a:ext cx="137160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子 Context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2560320"/>
            <a:ext cx="0" cy="457200"/>
          </a:xfrm>
          <a:prstGeom prst="line">
            <a:avLst/>
          </a:prstGeom>
          <a:ln w="2540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cument 13"/>
          <p:cNvSpPr/>
          <p:nvPr/>
        </p:nvSpPr>
        <p:spPr>
          <a:xfrm>
            <a:off x="5943600" y="1371600"/>
            <a:ext cx="2286000" cy="1371600"/>
          </a:xfrm>
          <a:prstGeom prst="flowChartDocument">
            <a:avLst/>
          </a:prstGeom>
          <a:solidFill>
            <a:srgbClr val="FFF3E0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取消传播规则：</a:t>
            </a:r>
          </a:p>
          <a:p>
            <a:pPr algn="ctr">
              <a:defRPr sz="1100">
                <a:solidFill>
                  <a:srgbClr val="2C3E50"/>
                </a:solidFill>
              </a:defRPr>
            </a:pPr>
            <a:r>
              <a:t>父 Context 取消</a:t>
            </a:r>
          </a:p>
          <a:p>
            <a:pPr algn="ctr">
              <a:defRPr sz="1100">
                <a:solidFill>
                  <a:srgbClr val="2C3E50"/>
                </a:solidFill>
              </a:defRPr>
            </a:pPr>
            <a:r>
              <a:t>↓</a:t>
            </a:r>
          </a:p>
          <a:p>
            <a:pPr algn="ctr">
              <a:defRPr sz="1100">
                <a:solidFill>
                  <a:srgbClr val="2C3E50"/>
                </a:solidFill>
              </a:defRPr>
            </a:pPr>
            <a:r>
              <a:t>所有子孙 Context</a:t>
            </a:r>
          </a:p>
          <a:p>
            <a:pPr algn="ctr">
              <a:defRPr sz="1100">
                <a:solidFill>
                  <a:srgbClr val="2C3E50"/>
                </a:solidFill>
              </a:defRPr>
            </a:pPr>
            <a:r>
              <a:t>自动取消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3192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  <a:latin typeface="Consolas"/>
              </a:defRPr>
            </a:pPr>
            <a:r>
              <a:t>// 创建可取消的 Context</a:t>
            </a:r>
            <a:br/>
            <a:r>
              <a:t>ctx, cancel := context.WithCancel(context.Background())</a:t>
            </a:r>
            <a:br/>
            <a:r>
              <a:t>defer cancel()  // 确保资源释放</a:t>
            </a:r>
            <a:br/>
            <a:br/>
            <a:r>
              <a:t>// 超时 Context</a:t>
            </a:r>
            <a:br/>
            <a:r>
              <a:t>ctx, cancel := context.WithTimeout(context.Background(), 5*time.Second)</a:t>
            </a:r>
            <a:br/>
            <a:r>
              <a:t>defer cancel()</a:t>
            </a:r>
            <a:br/>
            <a:br/>
            <a:r>
              <a:t>// 监听取消信号</a:t>
            </a:r>
            <a:br/>
            <a:r>
              <a:t>select {</a:t>
            </a:r>
            <a:br/>
            <a:r>
              <a:t>case &lt;-ctx.Done():</a:t>
            </a:r>
            <a:br/>
            <a:r>
              <a:t>    fmt.Println("Context 被取消:", ctx.Err())</a:t>
            </a:r>
            <a:br/>
            <a:r>
              <a:t>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Context 取消传播实战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6576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worker(ctx context.Context, id int)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for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select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case &lt;-ctx.Done():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fmt.Printf("Worker %d 收到取消信号\n", id)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return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default: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// 执行任务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time.Sleep(time.Millisecond * 500)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fmt.Printf("Worker %d 工作中...\n", id)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main()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ctx, cancel := context.WithTimeout(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context.Background(), 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3*time.Second,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defer cancel()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for i := 1; i &lt;= 3; i++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go worker(ctx, i)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&lt;-ctx.Done()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fmt.Println("所有 worker 已停止")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19376D"/>
                </a:solidFill>
              </a:defRPr>
            </a:pPr>
            <a:r>
              <a:t>💡 Context 是取消信号传播的标准方式，贯穿整个调用链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19376D"/>
              </a:gs>
              <a:gs pos="100000">
                <a:srgbClr val="2980B9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第六章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CF0F1"/>
                </a:solidFill>
              </a:defRPr>
            </a:pPr>
            <a:r>
              <a:t>同步原语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Mutex vs RWMutex 对比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3657600" cy="5486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sync.Mutex（互斥锁）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同一时刻只允许一个 goroutine 访问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Lock() / Unlock() 成对使用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读写都需要加锁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适用：读写频率相当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8328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性能：写多场景最优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1188720"/>
            <a:ext cx="3657600" cy="54864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sync.RWMutex（读写锁）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92024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允许多个 goroutine 同时读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28600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RLock() / RUnlock() 读锁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6517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Lock() / Unlock() 写锁（互斥）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01752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适用：读多写少场景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38328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• 性能：读密集场景最优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  <a:latin typeface="Consolas"/>
              </a:defRPr>
            </a:pPr>
            <a:r>
              <a:t>// Mutex 示例</a:t>
            </a:r>
            <a:br/>
            <a:r>
              <a:t>var mu sync.Mutex</a:t>
            </a:r>
            <a:br/>
            <a:r>
              <a:t>mu.Lock()</a:t>
            </a:r>
            <a:br/>
            <a:r>
              <a:t>counter++  // 只有一个 goroutine 可访问</a:t>
            </a:r>
            <a:br/>
            <a:r>
              <a:t>mu.Unlock()</a:t>
            </a:r>
            <a:br/>
            <a:br/>
            <a:r>
              <a:t>// RWMutex 示例</a:t>
            </a:r>
            <a:br/>
            <a:r>
              <a:t>var rwmu sync.RWMutex</a:t>
            </a:r>
            <a:br/>
            <a:br/>
            <a:r>
              <a:t>// 多个读者可同时读</a:t>
            </a:r>
            <a:br/>
            <a:r>
              <a:t>rwmu.RLock()</a:t>
            </a:r>
            <a:br/>
            <a:r>
              <a:t>value := data[key]</a:t>
            </a:r>
            <a:br/>
            <a:r>
              <a:t>rwmu.RUnlock()</a:t>
            </a:r>
            <a:br/>
            <a:br/>
            <a:r>
              <a:t>// 写操作独占</a:t>
            </a:r>
            <a:br/>
            <a:r>
              <a:t>rwmu.Lock()</a:t>
            </a:r>
            <a:br/>
            <a:r>
              <a:t>data[key] = newValue</a:t>
            </a:r>
            <a:br/>
            <a:r>
              <a:t>rwmu.Unlock()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sync.Once：单次初始化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6576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var (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instance *Singleton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once     sync.Once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GetInstance() *Singleton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once.Do(func()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fmt.Println("初始化单例")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instance = &amp;Singleton{}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return instance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并发调用 GetInstance() 多次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只会初始化一次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main()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var wg sync.WaitGroup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for i := 0; i &lt; 10; i++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wg.Add(1)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go func()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defer wg.Done()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GetInstance()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}()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wg.Wait()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19376D"/>
                </a:solidFill>
              </a:defRPr>
            </a:pPr>
            <a:r>
              <a:t>💡 sync.Once 保证函数只执行一次，常用于单例、初始化配置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sync.Pool 对象池 &amp; atomic 原子操作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6576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sync.Pool - 复用对象减少 GC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var bufferPool = sync.Pool{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New: func() interface{}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return new(bytes.Buffer)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},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process()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buf := bufferPool.Get().(*bytes.Buffer)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defer bufferPool.Put(buf)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buf.Reset()  // 重置后放回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buf.WriteString("hello")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// atomic - 原子操作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var counter int64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increment()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atomic.AddInt64(&amp;counter, 1)  // 原子自增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getCounter() int64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return atomic.LoadInt64(&amp;counter)  // 原子读取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19376D"/>
                </a:solidFill>
              </a:defRPr>
            </a:pPr>
            <a:r>
              <a:t>💡 Pool 适合频繁创建销毁的对象；atomic 适合简单计数器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19376D"/>
              </a:gs>
              <a:gs pos="100000">
                <a:srgbClr val="2980B9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第七章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CF0F1"/>
                </a:solidFill>
              </a:defRPr>
            </a:pPr>
            <a:r>
              <a:t>并发模式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Worker Pool 并发模式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71600"/>
            <a:ext cx="1828800" cy="3657600"/>
          </a:xfrm>
          <a:prstGeom prst="roundRect">
            <a:avLst/>
          </a:prstGeom>
          <a:solidFill>
            <a:srgbClr val="ECF0F1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/>
          <a:lstStyle/>
          <a:p>
            <a:pPr algn="ctr">
              <a:defRPr sz="1400" b="1">
                <a:solidFill>
                  <a:srgbClr val="3498DB"/>
                </a:solidFill>
              </a:defRPr>
            </a:pPr>
            <a:r>
              <a:t>任务队列</a:t>
            </a:r>
          </a:p>
          <a:p>
            <a:pPr algn="ctr">
              <a:defRPr sz="1400" b="1">
                <a:solidFill>
                  <a:srgbClr val="3498DB"/>
                </a:solidFill>
              </a:defRPr>
            </a:pPr>
            <a:r>
              <a:t>(jobs chan)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1828800"/>
            <a:ext cx="1280160" cy="3657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Job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377440"/>
            <a:ext cx="1280160" cy="3657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Job 2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926080"/>
            <a:ext cx="1280160" cy="3657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Job 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474720"/>
            <a:ext cx="1280160" cy="3657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Job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4023360"/>
            <a:ext cx="1280160" cy="3657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Job 5</a:t>
            </a:r>
          </a:p>
        </p:txBody>
      </p:sp>
      <p:sp>
        <p:nvSpPr>
          <p:cNvPr id="11" name="Process 10"/>
          <p:cNvSpPr/>
          <p:nvPr/>
        </p:nvSpPr>
        <p:spPr>
          <a:xfrm>
            <a:off x="3657600" y="1828800"/>
            <a:ext cx="1645920" cy="731520"/>
          </a:xfrm>
          <a:prstGeom prst="flowChartProcess">
            <a:avLst/>
          </a:prstGeom>
          <a:solidFill>
            <a:srgbClr val="2980B9"/>
          </a:solidFill>
          <a:ln w="25400"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Worker 1</a:t>
            </a:r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goroutine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0" y="2194560"/>
            <a:ext cx="914400" cy="0"/>
          </a:xfrm>
          <a:prstGeom prst="line">
            <a:avLst/>
          </a:prstGeom>
          <a:ln w="3175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rocess 12"/>
          <p:cNvSpPr/>
          <p:nvPr/>
        </p:nvSpPr>
        <p:spPr>
          <a:xfrm>
            <a:off x="3657600" y="2926080"/>
            <a:ext cx="1645920" cy="731520"/>
          </a:xfrm>
          <a:prstGeom prst="flowChartProcess">
            <a:avLst/>
          </a:prstGeom>
          <a:solidFill>
            <a:srgbClr val="2980B9"/>
          </a:solidFill>
          <a:ln w="25400"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Worker 2</a:t>
            </a:r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goroutine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3291840"/>
            <a:ext cx="914400" cy="0"/>
          </a:xfrm>
          <a:prstGeom prst="line">
            <a:avLst/>
          </a:prstGeom>
          <a:ln w="3175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rocess 14"/>
          <p:cNvSpPr/>
          <p:nvPr/>
        </p:nvSpPr>
        <p:spPr>
          <a:xfrm>
            <a:off x="3657600" y="4023360"/>
            <a:ext cx="1645920" cy="731520"/>
          </a:xfrm>
          <a:prstGeom prst="flowChartProcess">
            <a:avLst/>
          </a:prstGeom>
          <a:solidFill>
            <a:srgbClr val="2980B9"/>
          </a:solidFill>
          <a:ln w="25400"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Worker 3</a:t>
            </a:r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goroutine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4389120"/>
            <a:ext cx="914400" cy="0"/>
          </a:xfrm>
          <a:prstGeom prst="line">
            <a:avLst/>
          </a:prstGeom>
          <a:ln w="31750">
            <a:solidFill>
              <a:srgbClr val="2C3E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0" y="1371600"/>
            <a:ext cx="1828800" cy="3657600"/>
          </a:xfrm>
          <a:prstGeom prst="roundRect">
            <a:avLst/>
          </a:prstGeom>
          <a:solidFill>
            <a:srgbClr val="ECF0F1"/>
          </a:solidFill>
          <a:ln w="381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/>
          <a:lstStyle/>
          <a:p>
            <a:pPr algn="ctr">
              <a:defRPr sz="1400" b="1">
                <a:solidFill>
                  <a:srgbClr val="27AE60"/>
                </a:solidFill>
              </a:defRPr>
            </a:pPr>
            <a:r>
              <a:t>结果队列</a:t>
            </a:r>
          </a:p>
          <a:p>
            <a:pPr algn="ctr">
              <a:defRPr sz="1400" b="1">
                <a:solidFill>
                  <a:srgbClr val="27AE60"/>
                </a:solidFill>
              </a:defRPr>
            </a:pPr>
            <a:r>
              <a:t>(results chan)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03520" y="2194560"/>
            <a:ext cx="1097280" cy="0"/>
          </a:xfrm>
          <a:prstGeom prst="line">
            <a:avLst/>
          </a:prstGeom>
          <a:ln w="3175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03520" y="3291840"/>
            <a:ext cx="1097280" cy="0"/>
          </a:xfrm>
          <a:prstGeom prst="line">
            <a:avLst/>
          </a:prstGeom>
          <a:ln w="3175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03520" y="4389120"/>
            <a:ext cx="1097280" cy="0"/>
          </a:xfrm>
          <a:prstGeom prst="line">
            <a:avLst/>
          </a:prstGeom>
          <a:ln w="3175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5303520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  <a:latin typeface="Consolas"/>
              </a:defRPr>
            </a:pPr>
            <a:r>
              <a:t>jobs := make(chan Job, 100); results := make(chan Result, 100)</a:t>
            </a:r>
            <a:br/>
            <a:r>
              <a:t>for w := 1; w &lt;= numWorkers; w++ { go worker(jobs, results) }</a:t>
            </a:r>
            <a:br/>
            <a:r>
              <a:t>for _, job := range allJobs { jobs &lt;- job }</a:t>
            </a:r>
            <a:br/>
            <a:r>
              <a:t>close(jobs); for r := range results { process(r) 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Pipeline 模式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657600"/>
          </a:xfrm>
          <a:prstGeom prst="roundRect">
            <a:avLst/>
          </a:prstGeom>
          <a:solidFill>
            <a:srgbClr val="282C34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generator(nums ...int) &lt;-chan int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out := make(chan int)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go func()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for _, n := range nums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out &lt;- n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close(out)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return out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square(in &lt;-chan int) &lt;-chan int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out := make(chan int)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go func()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for n := range in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out &lt;- n * n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close(out)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}()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return out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func main()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// 流水线：生成 -&gt; 平方 -&gt; 输出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c := generator(1, 2, 3, 4)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out := square(c)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for result := range out {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fmt.Println(result)  // 1, 4, 9, 16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defRPr sz="11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19376D"/>
                </a:solidFill>
              </a:defRPr>
            </a:pPr>
            <a:r>
              <a:t>💡 Pipeline 将数据处理拆分为多个阶段，每阶段独立并发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19376D"/>
              </a:gs>
              <a:gs pos="100000">
                <a:srgbClr val="2980B9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第八章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CF0F1"/>
                </a:solidFill>
              </a:defRPr>
            </a:pPr>
            <a:r>
              <a:t>常见陷阱与调试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并发常见陷阱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1. Goroutine 泄漏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问题：goroutine 启动后永远无法退出，占用内存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74C3C"/>
                </a:solidFill>
                <a:latin typeface="Consolas"/>
              </a:defRPr>
            </a:pPr>
            <a:r>
              <a:t>❌ for { select { case &lt;-ch: } }  // 没有退出条件</a:t>
            </a:r>
          </a:p>
          <a:p>
            <a:pPr>
              <a:defRPr sz="900">
                <a:solidFill>
                  <a:srgbClr val="27AE60"/>
                </a:solidFill>
              </a:defRPr>
            </a:pPr>
            <a:r>
              <a:t>✓ 添加 context 或 done channel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768096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2. 竞态条件 (Data Race)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问题：多个 goroutine 同时读写同一变量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74C3C"/>
                </a:solidFill>
                <a:latin typeface="Consolas"/>
              </a:defRPr>
            </a:pPr>
            <a:r>
              <a:t>❌ counter++  // 非原子操作，并发不安全</a:t>
            </a:r>
          </a:p>
          <a:p>
            <a:pPr>
              <a:defRPr sz="900">
                <a:solidFill>
                  <a:srgbClr val="27AE60"/>
                </a:solidFill>
              </a:defRPr>
            </a:pPr>
            <a:r>
              <a:t>✓ 使用 Mutex 或 atomic 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768096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3. 死锁 (Deadlock)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66160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问题：所有 goroutine 都在等待，无法继续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74C3C"/>
                </a:solidFill>
                <a:latin typeface="Consolas"/>
              </a:defRPr>
            </a:pPr>
            <a:r>
              <a:t>❌ ch := make(chan int); ch &lt;- 1  // 无人接收</a:t>
            </a:r>
          </a:p>
          <a:p>
            <a:pPr>
              <a:defRPr sz="900">
                <a:solidFill>
                  <a:srgbClr val="27AE60"/>
                </a:solidFill>
              </a:defRPr>
            </a:pPr>
            <a:r>
              <a:t>✓ 确保 channel 有接收者或使用缓冲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768096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4. 关闭已关闭的 Channel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72000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问题：重复关闭 channel 会 panic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E74C3C"/>
                </a:solidFill>
                <a:latin typeface="Consolas"/>
              </a:defRPr>
            </a:pPr>
            <a:r>
              <a:t>❌ close(ch); close(ch)  // panic!</a:t>
            </a:r>
          </a:p>
          <a:p>
            <a:pPr>
              <a:defRPr sz="900">
                <a:solidFill>
                  <a:srgbClr val="27AE60"/>
                </a:solidFill>
              </a:defRPr>
            </a:pPr>
            <a:r>
              <a:t>✓ 只由发送方关闭，只关闭一次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03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980B9"/>
                </a:solidFill>
              </a:defRPr>
            </a:pPr>
            <a:r>
              <a:t>🔧 调试工具：go run -race  |  pprof  |  runtime.NumGoroutine()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19376D"/>
              </a:gs>
              <a:gs pos="100000">
                <a:srgbClr val="2980B9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第九章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ECF0F1"/>
                </a:solidFill>
              </a:defRPr>
            </a:pPr>
            <a:r>
              <a:t>最佳实践与性能优化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Go 并发最佳实践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365760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设计原则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通过通信来共享内存，而不是通过共享内存来通信</a:t>
            </a:r>
          </a:p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单一职责：每个 goroutine 做好一件事</a:t>
            </a:r>
          </a:p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明确生命周期：有启动就要有退出机制</a:t>
            </a:r>
          </a:p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优先使用 channel，必要时才用锁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188720"/>
            <a:ext cx="365760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性能优化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4592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控制并发数量：使用 Worker Pool 限制 goroutine 数量</a:t>
            </a:r>
          </a:p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避免过度同步：减少锁的粒度和持有时间</a:t>
            </a:r>
          </a:p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复用对象：使用 sync.Pool 减少 GC 压力</a:t>
            </a:r>
          </a:p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使用有缓冲 channel 减少阻塞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3657600" cy="3657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错误处理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4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使用 Context 传递取消信号和超时</a:t>
            </a:r>
          </a:p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errgroup.Group 收集并发任务的错误</a:t>
            </a:r>
          </a:p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defer 确保资源释放（Unlock、cancel()）</a:t>
            </a:r>
          </a:p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监控 goroutine 数量，防止泄漏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3291840"/>
            <a:ext cx="3657600" cy="36576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测试调试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74904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go test -race 检测竞态条件</a:t>
            </a:r>
          </a:p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pprof 分析 goroutine 泄漏和性能瓶颈</a:t>
            </a:r>
          </a:p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使用 context.WithTimeout 避免永久阻塞</a:t>
            </a:r>
          </a:p>
          <a:p>
            <a:pPr>
              <a:lnSpc>
                <a:spcPct val="130000"/>
              </a:lnSpc>
              <a:defRPr sz="1000">
                <a:solidFill>
                  <a:srgbClr val="2C3E50"/>
                </a:solidFill>
              </a:defRPr>
            </a:pPr>
            <a:r>
              <a:t>• 单元测试中使用带超时的 channel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035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9376D"/>
                </a:solidFill>
              </a:defRPr>
            </a:pPr>
            <a:r>
              <a:t>💡 核心原则：简单、清晰、可控 —— 能用同步就不用异步，能用一个 goroutine 就不用多个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课程总结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371600"/>
            <a:ext cx="2286000" cy="274320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</a:defRPr>
            </a:pPr>
            <a:r>
              <a:t>核心概念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17373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✓ Goroutine：轻量级协程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✓ Channel：通信管道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✓ Select：多路复用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✓ Context：上下文控制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371600"/>
            <a:ext cx="2286000" cy="274320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55448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E67E22"/>
                </a:solidFill>
              </a:defRPr>
            </a:pPr>
            <a:r>
              <a:t>同步工具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103120"/>
            <a:ext cx="17373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✓ WaitGroup：等待组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✓ Mutex/RWMutex：互斥锁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✓ Once：单次执行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✓ Pool：对象池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371600"/>
            <a:ext cx="2286000" cy="2743200"/>
          </a:xfrm>
          <a:prstGeom prst="roundRect">
            <a:avLst/>
          </a:prstGeom>
          <a:solidFill>
            <a:srgbClr val="F5F7FA"/>
          </a:solidFill>
          <a:ln w="381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55448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7AE60"/>
                </a:solidFill>
              </a:defRPr>
            </a:pPr>
            <a:r>
              <a:t>并发模式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03120"/>
            <a:ext cx="17373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✓ Worker Pool：工作池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✓ Pipeline：流水线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✓ Fan-out/in：扇出扇入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✓ Errgroup：错误组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19376D"/>
                </a:solidFill>
              </a:defRPr>
            </a:pPr>
            <a:r>
              <a:t>🎯 掌握并发不是目标，写出正确、高效、可维护的并发代码才是</a:t>
            </a:r>
          </a:p>
          <a:p>
            <a:pPr>
              <a:spcAft>
                <a:spcPts val="1000"/>
              </a:spcAft>
              <a:defRPr sz="1200">
                <a:solidFill>
                  <a:srgbClr val="19376D"/>
                </a:solidFill>
              </a:defRPr>
            </a:pPr>
            <a:r>
              <a:t>⚡ 并发能力是 Go 的核心竞争力，也是构建高性能系统的基石</a:t>
            </a:r>
          </a:p>
          <a:p>
            <a:pPr>
              <a:spcAft>
                <a:spcPts val="1000"/>
              </a:spcAft>
              <a:defRPr sz="1200">
                <a:solidFill>
                  <a:srgbClr val="19376D"/>
                </a:solidFill>
              </a:defRPr>
            </a:pPr>
            <a:r>
              <a:t>🔧 持续实践：从简单的 Worker Pool 到复杂的微服务编排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3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828800" y="2286000"/>
            <a:ext cx="5486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19376D"/>
                </a:solidFill>
              </a:defRPr>
            </a:pPr>
            <a: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2C3E50"/>
                </a:solidFill>
              </a:defRPr>
            </a:pPr>
            <a:r>
              <a:t>感谢聆听 | 欢迎提问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5029200"/>
            <a:ext cx="731520" cy="73152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5029200"/>
            <a:ext cx="731520" cy="7315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0" y="5029200"/>
            <a:ext cx="731520" cy="73152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